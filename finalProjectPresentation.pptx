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50" r:id="rId2"/>
  </p:sldMasterIdLst>
  <p:sldIdLst>
    <p:sldId id="256" r:id="rId3"/>
    <p:sldId id="257" r:id="rId4"/>
    <p:sldId id="258" r:id="rId5"/>
    <p:sldId id="261" r:id="rId6"/>
    <p:sldId id="262" r:id="rId7"/>
    <p:sldId id="263" r:id="rId8"/>
    <p:sldId id="264" r:id="rId9"/>
    <p:sldId id="265" r:id="rId10"/>
    <p:sldId id="266" r:id="rId11"/>
    <p:sldId id="267"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5" r:id="rId27"/>
    <p:sldId id="286" r:id="rId28"/>
    <p:sldId id="283" r:id="rId29"/>
    <p:sldId id="284" r:id="rId30"/>
    <p:sldId id="287" r:id="rId31"/>
  </p:sldIdLst>
  <p:sldSz cx="9144000" cy="5143500" type="screen16x9"/>
  <p:notesSz cx="7772400" cy="10058400"/>
  <p:embeddedFontLst>
    <p:embeddedFont>
      <p:font typeface="Open Sans" panose="020B0606030504020204" pitchFamily="34" charset="0"/>
      <p:regular r:id="rId32"/>
      <p:bold r:id="rId33"/>
      <p:italic r:id="rId34"/>
      <p:boldItalic r:id="rId34"/>
    </p:embeddedFont>
    <p:embeddedFont>
      <p:font typeface="PT Sans Narrow" panose="020B0506020203020204" pitchFamily="34" charset="0"/>
      <p:regular r:id="rId35"/>
      <p:bold r:id="rId36"/>
      <p:italic r:id="rId36"/>
    </p:embeddedFont>
  </p:embeddedFontLst>
  <p:defaultTex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95D46"/>
    <a:srgbClr val="729FCF"/>
    <a:srgbClr val="7FA8D4"/>
    <a:srgbClr val="FFFFFF"/>
    <a:srgbClr val="02060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8" d="100"/>
          <a:sy n="128" d="100"/>
        </p:scale>
        <p:origin x="1134"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font" Target="fonts/font3.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1.fntdata"/><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5.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4.fntdata"/><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2.fntdata"/><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13" name="PlaceHolder 1"/>
          <p:cNvSpPr>
            <a:spLocks noGrp="1"/>
          </p:cNvSpPr>
          <p:nvPr>
            <p:ph type="title"/>
          </p:nvPr>
        </p:nvSpPr>
        <p:spPr>
          <a:xfrm>
            <a:off x="311760" y="444960"/>
            <a:ext cx="8519400" cy="706320"/>
          </a:xfrm>
          <a:prstGeom prst="rect">
            <a:avLst/>
          </a:prstGeom>
          <a:noFill/>
          <a:ln w="0">
            <a:noFill/>
          </a:ln>
        </p:spPr>
        <p:txBody>
          <a:bodyPr lIns="0" tIns="0" rIns="0" bIns="0" anchor="ctr">
            <a:spAutoFit/>
          </a:bodyPr>
          <a:lstStyle/>
          <a:p>
            <a:pPr indent="0" algn="ctr">
              <a:buNone/>
            </a:pPr>
            <a:endParaRPr lang="en-US" sz="4400" b="0" u="none" strike="noStrike">
              <a:solidFill>
                <a:srgbClr val="000000"/>
              </a:solidFill>
              <a:effectLst/>
              <a:uFillTx/>
              <a:latin typeface="Arial"/>
            </a:endParaRPr>
          </a:p>
        </p:txBody>
      </p:sp>
      <p:sp>
        <p:nvSpPr>
          <p:cNvPr id="14" name="PlaceHolder 2"/>
          <p:cNvSpPr>
            <a:spLocks noGrp="1"/>
          </p:cNvSpPr>
          <p:nvPr>
            <p:ph type="subTitle"/>
          </p:nvPr>
        </p:nvSpPr>
        <p:spPr>
          <a:xfrm>
            <a:off x="311760" y="1266480"/>
            <a:ext cx="8519400" cy="3301560"/>
          </a:xfrm>
          <a:prstGeom prst="rect">
            <a:avLst/>
          </a:prstGeom>
          <a:noFill/>
          <a:ln w="0">
            <a:noFill/>
          </a:ln>
        </p:spPr>
        <p:txBody>
          <a:bodyPr lIns="0" tIns="0" rIns="0" bIns="0" anchor="ctr">
            <a:spAutoFit/>
          </a:bodyPr>
          <a:lstStyle/>
          <a:p>
            <a:pPr indent="0" algn="ctr">
              <a:buNone/>
            </a:pPr>
            <a:endParaRPr lang="en-US" sz="3200" b="0" u="none" strike="noStrike">
              <a:solidFill>
                <a:srgbClr val="000000"/>
              </a:solidFill>
              <a:effectLst/>
              <a:uFillTx/>
              <a:latin typeface="Arial"/>
            </a:endParaRPr>
          </a:p>
        </p:txBody>
      </p:sp>
      <p:sp>
        <p:nvSpPr>
          <p:cNvPr id="4" name="PlaceHolder 3"/>
          <p:cNvSpPr>
            <a:spLocks noGrp="1"/>
          </p:cNvSpPr>
          <p:nvPr>
            <p:ph type="sldNum" idx="1"/>
          </p:nvPr>
        </p:nvSpPr>
        <p:spPr/>
        <p:txBody>
          <a:bodyPr/>
          <a:lstStyle/>
          <a:p>
            <a:fld id="{71B06926-72E0-48C3-87FA-2574869D0DC5}"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311760" y="444960"/>
            <a:ext cx="8519400" cy="706320"/>
          </a:xfrm>
          <a:prstGeom prst="rect">
            <a:avLst/>
          </a:prstGeom>
          <a:noFill/>
          <a:ln w="0">
            <a:noFill/>
          </a:ln>
        </p:spPr>
        <p:txBody>
          <a:bodyPr lIns="91440" tIns="91440" rIns="91440" bIns="91440" anchor="t">
            <a:normAutofit lnSpcReduction="9999"/>
          </a:bodyPr>
          <a:lstStyle/>
          <a:p>
            <a:pPr indent="0">
              <a:lnSpc>
                <a:spcPct val="100000"/>
              </a:lnSpc>
              <a:buNone/>
              <a:tabLst>
                <a:tab pos="0" algn="l"/>
              </a:tabLst>
            </a:pPr>
            <a:r>
              <a:rPr lang="en-US" sz="3600" b="0" u="none" strike="noStrike">
                <a:solidFill>
                  <a:srgbClr val="000000"/>
                </a:solidFill>
                <a:effectLst/>
                <a:uFillTx/>
                <a:latin typeface="Arial"/>
              </a:rPr>
              <a:t>Click to edit the title text format</a:t>
            </a:r>
          </a:p>
        </p:txBody>
      </p:sp>
      <p:sp>
        <p:nvSpPr>
          <p:cNvPr id="16" name="PlaceHolder 2"/>
          <p:cNvSpPr>
            <a:spLocks noGrp="1"/>
          </p:cNvSpPr>
          <p:nvPr>
            <p:ph type="body"/>
          </p:nvPr>
        </p:nvSpPr>
        <p:spPr>
          <a:xfrm>
            <a:off x="311760" y="1266120"/>
            <a:ext cx="3998880" cy="3301560"/>
          </a:xfrm>
          <a:prstGeom prst="rect">
            <a:avLst/>
          </a:prstGeom>
          <a:noFill/>
          <a:ln w="0">
            <a:noFill/>
          </a:ln>
        </p:spPr>
        <p:txBody>
          <a:bodyPr lIns="91440" tIns="91440" rIns="91440" bIns="91440" anchor="t">
            <a:normAutofit/>
          </a:bodyPr>
          <a:lstStyle/>
          <a:p>
            <a:pPr marL="432000" indent="-324000">
              <a:lnSpc>
                <a:spcPct val="100000"/>
              </a:lnSpc>
              <a:spcBef>
                <a:spcPts val="1417"/>
              </a:spcBef>
              <a:buClr>
                <a:srgbClr val="000000"/>
              </a:buClr>
              <a:buSzPct val="45000"/>
              <a:buFont typeface="Wingdings" charset="2"/>
              <a:buChar char=""/>
            </a:pPr>
            <a:r>
              <a:rPr lang="en-US"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US"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US"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US"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US"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US"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US" sz="1400" b="0" u="none" strike="noStrike">
                <a:solidFill>
                  <a:srgbClr val="000000"/>
                </a:solidFill>
                <a:effectLst/>
                <a:uFillTx/>
                <a:latin typeface="Arial"/>
              </a:rPr>
              <a:t>Seventh Outline Level</a:t>
            </a:r>
          </a:p>
        </p:txBody>
      </p:sp>
      <p:sp>
        <p:nvSpPr>
          <p:cNvPr id="17" name="PlaceHolder 3"/>
          <p:cNvSpPr>
            <a:spLocks noGrp="1"/>
          </p:cNvSpPr>
          <p:nvPr>
            <p:ph type="body"/>
          </p:nvPr>
        </p:nvSpPr>
        <p:spPr>
          <a:xfrm>
            <a:off x="4832280" y="1266120"/>
            <a:ext cx="3998880" cy="3301560"/>
          </a:xfrm>
          <a:prstGeom prst="rect">
            <a:avLst/>
          </a:prstGeom>
          <a:noFill/>
          <a:ln w="0">
            <a:noFill/>
          </a:ln>
        </p:spPr>
        <p:txBody>
          <a:bodyPr lIns="91440" tIns="91440" rIns="91440" bIns="91440" anchor="t">
            <a:normAutofit/>
          </a:bodyPr>
          <a:lstStyle/>
          <a:p>
            <a:pPr marL="432000" indent="-324000">
              <a:lnSpc>
                <a:spcPct val="100000"/>
              </a:lnSpc>
              <a:spcBef>
                <a:spcPts val="1417"/>
              </a:spcBef>
              <a:buClr>
                <a:srgbClr val="000000"/>
              </a:buClr>
              <a:buSzPct val="45000"/>
              <a:buFont typeface="Wingdings" charset="2"/>
              <a:buChar char=""/>
            </a:pPr>
            <a:r>
              <a:rPr lang="en-US"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US"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US"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US"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US"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US"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US" sz="1400" b="0" u="none" strike="noStrike">
                <a:solidFill>
                  <a:srgbClr val="000000"/>
                </a:solidFill>
                <a:effectLst/>
                <a:uFillTx/>
                <a:latin typeface="Arial"/>
              </a:rPr>
              <a:t>Seventh Outline Level</a:t>
            </a:r>
          </a:p>
        </p:txBody>
      </p:sp>
      <p:sp>
        <p:nvSpPr>
          <p:cNvPr id="18" name="PlaceHolder 4"/>
          <p:cNvSpPr>
            <a:spLocks noGrp="1"/>
          </p:cNvSpPr>
          <p:nvPr>
            <p:ph type="sldNum" idx="2"/>
          </p:nvPr>
        </p:nvSpPr>
        <p:spPr>
          <a:xfrm>
            <a:off x="8472600" y="4663080"/>
            <a:ext cx="547560" cy="39240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US" sz="1000" b="0" u="none" strike="noStrike">
                <a:solidFill>
                  <a:schemeClr val="dk2"/>
                </a:solidFill>
                <a:effectLst/>
                <a:uFillTx/>
                <a:latin typeface="Open Sans"/>
                <a:ea typeface="Open Sans"/>
              </a:defRPr>
            </a:lvl1pPr>
          </a:lstStyle>
          <a:p>
            <a:pPr indent="0" algn="r">
              <a:lnSpc>
                <a:spcPct val="100000"/>
              </a:lnSpc>
              <a:buNone/>
              <a:tabLst>
                <a:tab pos="0" algn="l"/>
              </a:tabLst>
            </a:pPr>
            <a:fld id="{39A62E02-763D-4945-B811-C6247BF6D411}" type="slidenum">
              <a:rPr lang="en-US" sz="1000" b="0" u="none" strike="noStrike">
                <a:solidFill>
                  <a:schemeClr val="dk2"/>
                </a:solidFill>
                <a:effectLst/>
                <a:uFillTx/>
                <a:latin typeface="Open Sans"/>
                <a:ea typeface="Open Sans"/>
              </a:rPr>
              <a:t>‹#›</a:t>
            </a:fld>
            <a:endParaRPr lang="en-US" sz="10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311760" y="444960"/>
            <a:ext cx="8519400" cy="706320"/>
          </a:xfrm>
          <a:prstGeom prst="rect">
            <a:avLst/>
          </a:prstGeom>
          <a:noFill/>
          <a:ln w="0">
            <a:noFill/>
          </a:ln>
        </p:spPr>
        <p:txBody>
          <a:bodyPr lIns="91440" tIns="91440" rIns="91440" bIns="91440" anchor="t">
            <a:normAutofit lnSpcReduction="9999"/>
          </a:bodyPr>
          <a:lstStyle/>
          <a:p>
            <a:pPr indent="0">
              <a:lnSpc>
                <a:spcPct val="100000"/>
              </a:lnSpc>
              <a:buNone/>
              <a:tabLst>
                <a:tab pos="0" algn="l"/>
              </a:tabLst>
            </a:pPr>
            <a:r>
              <a:rPr lang="en-US" sz="3600" b="0" u="none" strike="noStrike">
                <a:solidFill>
                  <a:srgbClr val="000000"/>
                </a:solidFill>
                <a:effectLst/>
                <a:uFillTx/>
                <a:latin typeface="Arial"/>
              </a:rPr>
              <a:t>Click to edit the title text format</a:t>
            </a:r>
          </a:p>
        </p:txBody>
      </p:sp>
      <p:sp>
        <p:nvSpPr>
          <p:cNvPr id="20" name="PlaceHolder 2"/>
          <p:cNvSpPr>
            <a:spLocks noGrp="1"/>
          </p:cNvSpPr>
          <p:nvPr>
            <p:ph type="sldNum" idx="3"/>
          </p:nvPr>
        </p:nvSpPr>
        <p:spPr>
          <a:xfrm>
            <a:off x="8472600" y="4663080"/>
            <a:ext cx="547560" cy="39240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US" sz="1000" b="0" u="none" strike="noStrike">
                <a:solidFill>
                  <a:schemeClr val="dk2"/>
                </a:solidFill>
                <a:effectLst/>
                <a:uFillTx/>
                <a:latin typeface="Open Sans"/>
                <a:ea typeface="Open Sans"/>
              </a:defRPr>
            </a:lvl1pPr>
          </a:lstStyle>
          <a:p>
            <a:pPr indent="0" algn="r">
              <a:lnSpc>
                <a:spcPct val="100000"/>
              </a:lnSpc>
              <a:buNone/>
              <a:tabLst>
                <a:tab pos="0" algn="l"/>
              </a:tabLst>
            </a:pPr>
            <a:fld id="{B0D442FD-CA62-4B7F-BAE9-F0ABE669B507}" type="slidenum">
              <a:rPr lang="en-US" sz="1000" b="0" u="none" strike="noStrike">
                <a:solidFill>
                  <a:schemeClr val="dk2"/>
                </a:solidFill>
                <a:effectLst/>
                <a:uFillTx/>
                <a:latin typeface="Open Sans"/>
                <a:ea typeface="Open Sans"/>
              </a:rPr>
              <a:t>‹#›</a:t>
            </a:fld>
            <a:endParaRPr lang="en-US" sz="10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311760" y="555480"/>
            <a:ext cx="2806920" cy="754560"/>
          </a:xfrm>
          <a:prstGeom prst="rect">
            <a:avLst/>
          </a:prstGeom>
          <a:noFill/>
          <a:ln w="0">
            <a:noFill/>
          </a:ln>
        </p:spPr>
        <p:txBody>
          <a:bodyPr lIns="91440" tIns="91440" rIns="91440" bIns="91440" anchor="b">
            <a:normAutofit fontScale="85000" lnSpcReduction="9999"/>
          </a:bodyPr>
          <a:lstStyle/>
          <a:p>
            <a:pPr indent="0">
              <a:lnSpc>
                <a:spcPct val="100000"/>
              </a:lnSpc>
              <a:buNone/>
              <a:tabLst>
                <a:tab pos="0" algn="l"/>
              </a:tabLst>
            </a:pPr>
            <a:r>
              <a:rPr lang="en-US" sz="2400" b="0" u="none" strike="noStrike">
                <a:solidFill>
                  <a:srgbClr val="000000"/>
                </a:solidFill>
                <a:effectLst/>
                <a:uFillTx/>
                <a:latin typeface="Arial"/>
              </a:rPr>
              <a:t>Click to edit the title text format</a:t>
            </a:r>
          </a:p>
        </p:txBody>
      </p:sp>
      <p:sp>
        <p:nvSpPr>
          <p:cNvPr id="22" name="PlaceHolder 2"/>
          <p:cNvSpPr>
            <a:spLocks noGrp="1"/>
          </p:cNvSpPr>
          <p:nvPr>
            <p:ph type="body"/>
          </p:nvPr>
        </p:nvSpPr>
        <p:spPr>
          <a:xfrm>
            <a:off x="311760" y="1389600"/>
            <a:ext cx="2806920" cy="3178440"/>
          </a:xfrm>
          <a:prstGeom prst="rect">
            <a:avLst/>
          </a:prstGeom>
          <a:noFill/>
          <a:ln w="0">
            <a:noFill/>
          </a:ln>
        </p:spPr>
        <p:txBody>
          <a:bodyPr lIns="91440" tIns="91440" rIns="91440" bIns="91440" anchor="t">
            <a:normAutofit fontScale="32500" lnSpcReduction="19999"/>
          </a:bodyPr>
          <a:lstStyle/>
          <a:p>
            <a:pPr marL="432000" indent="-324000">
              <a:lnSpc>
                <a:spcPct val="100000"/>
              </a:lnSpc>
              <a:spcBef>
                <a:spcPts val="1417"/>
              </a:spcBef>
              <a:buClr>
                <a:srgbClr val="000000"/>
              </a:buClr>
              <a:buSzPct val="45000"/>
              <a:buFont typeface="Wingdings" charset="2"/>
              <a:buChar char=""/>
            </a:pPr>
            <a:r>
              <a:rPr lang="en-US" sz="12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US" sz="12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US" sz="12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US" sz="12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US" sz="12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US" sz="12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US" sz="1200" b="0" u="none" strike="noStrike">
                <a:solidFill>
                  <a:srgbClr val="000000"/>
                </a:solidFill>
                <a:effectLst/>
                <a:uFillTx/>
                <a:latin typeface="Arial"/>
              </a:rPr>
              <a:t>Seventh Outline Level</a:t>
            </a:r>
          </a:p>
        </p:txBody>
      </p:sp>
      <p:sp>
        <p:nvSpPr>
          <p:cNvPr id="23" name="PlaceHolder 3"/>
          <p:cNvSpPr>
            <a:spLocks noGrp="1"/>
          </p:cNvSpPr>
          <p:nvPr>
            <p:ph type="sldNum" idx="4"/>
          </p:nvPr>
        </p:nvSpPr>
        <p:spPr>
          <a:xfrm>
            <a:off x="8472600" y="4663080"/>
            <a:ext cx="547560" cy="39240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US" sz="1000" b="0" u="none" strike="noStrike">
                <a:solidFill>
                  <a:schemeClr val="dk2"/>
                </a:solidFill>
                <a:effectLst/>
                <a:uFillTx/>
                <a:latin typeface="Open Sans"/>
                <a:ea typeface="Open Sans"/>
              </a:defRPr>
            </a:lvl1pPr>
          </a:lstStyle>
          <a:p>
            <a:pPr indent="0" algn="r">
              <a:lnSpc>
                <a:spcPct val="100000"/>
              </a:lnSpc>
              <a:buNone/>
              <a:tabLst>
                <a:tab pos="0" algn="l"/>
              </a:tabLst>
            </a:pPr>
            <a:fld id="{144656F9-D748-4746-9C69-780DDC03F120}" type="slidenum">
              <a:rPr lang="en-US" sz="1000" b="0" u="none" strike="noStrike">
                <a:solidFill>
                  <a:schemeClr val="dk2"/>
                </a:solidFill>
                <a:effectLst/>
                <a:uFillTx/>
                <a:latin typeface="Open Sans"/>
                <a:ea typeface="Open Sans"/>
              </a:rPr>
              <a:t>‹#›</a:t>
            </a:fld>
            <a:endParaRPr lang="en-US" sz="10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1_TITLE_AND_BODY">
    <p:bg>
      <p:bgPr>
        <a:solidFill>
          <a:schemeClr val="lt1"/>
        </a:solidFill>
        <a:effectLst/>
      </p:bgPr>
    </p:bg>
    <p:spTree>
      <p:nvGrpSpPr>
        <p:cNvPr id="1" name=""/>
        <p:cNvGrpSpPr/>
        <p:nvPr/>
      </p:nvGrpSpPr>
      <p:grpSpPr>
        <a:xfrm>
          <a:off x="0" y="0"/>
          <a:ext cx="0" cy="0"/>
          <a:chOff x="0" y="0"/>
          <a:chExt cx="0" cy="0"/>
        </a:xfrm>
      </p:grpSpPr>
      <p:sp>
        <p:nvSpPr>
          <p:cNvPr id="24" name="Google Shape;26;p4"/>
          <p:cNvSpPr/>
          <p:nvPr/>
        </p:nvSpPr>
        <p:spPr>
          <a:xfrm>
            <a:off x="0" y="5045760"/>
            <a:ext cx="9142920" cy="96840"/>
          </a:xfrm>
          <a:prstGeom prst="rect">
            <a:avLst/>
          </a:prstGeom>
          <a:solidFill>
            <a:schemeClr val="accent3"/>
          </a:solidFill>
          <a:ln w="0">
            <a:noFill/>
          </a:ln>
        </p:spPr>
        <p:style>
          <a:lnRef idx="0">
            <a:scrgbClr r="0" g="0" b="0"/>
          </a:lnRef>
          <a:fillRef idx="0">
            <a:scrgbClr r="0" g="0" b="0"/>
          </a:fillRef>
          <a:effectRef idx="0">
            <a:scrgbClr r="0" g="0" b="0"/>
          </a:effectRef>
          <a:fontRef idx="minor"/>
        </p:style>
        <p:txBody>
          <a:bodyPr lIns="90000" tIns="48600" rIns="90000" bIns="48600" anchor="ctr">
            <a:noAutofit/>
          </a:bodyPr>
          <a:lstStyle/>
          <a:p>
            <a:pPr>
              <a:lnSpc>
                <a:spcPct val="100000"/>
              </a:lnSpc>
            </a:pPr>
            <a:endParaRPr lang="en-US" sz="1400" b="0" u="none" strike="noStrike">
              <a:solidFill>
                <a:srgbClr val="000000"/>
              </a:solidFill>
              <a:effectLst/>
              <a:uFillTx/>
              <a:latin typeface="Arial"/>
              <a:ea typeface="Arial"/>
            </a:endParaRPr>
          </a:p>
        </p:txBody>
      </p:sp>
      <p:sp>
        <p:nvSpPr>
          <p:cNvPr id="28" name="PlaceHolder 1"/>
          <p:cNvSpPr>
            <a:spLocks noGrp="1"/>
          </p:cNvSpPr>
          <p:nvPr>
            <p:ph type="title"/>
          </p:nvPr>
        </p:nvSpPr>
        <p:spPr>
          <a:xfrm>
            <a:off x="311760" y="444960"/>
            <a:ext cx="8519400" cy="706320"/>
          </a:xfrm>
          <a:prstGeom prst="rect">
            <a:avLst/>
          </a:prstGeom>
          <a:noFill/>
          <a:ln w="0">
            <a:noFill/>
          </a:ln>
        </p:spPr>
        <p:txBody>
          <a:bodyPr lIns="91440" tIns="91440" rIns="91440" bIns="91440" anchor="t">
            <a:normAutofit lnSpcReduction="9999"/>
          </a:bodyPr>
          <a:lstStyle/>
          <a:p>
            <a:pPr indent="0">
              <a:lnSpc>
                <a:spcPct val="100000"/>
              </a:lnSpc>
              <a:buNone/>
              <a:tabLst>
                <a:tab pos="0" algn="l"/>
              </a:tabLst>
            </a:pPr>
            <a:r>
              <a:rPr lang="en-US" sz="3600" b="0" u="none" strike="noStrike">
                <a:solidFill>
                  <a:srgbClr val="000000"/>
                </a:solidFill>
                <a:effectLst/>
                <a:uFillTx/>
                <a:latin typeface="Arial"/>
              </a:rPr>
              <a:t>Click to edit the title text format</a:t>
            </a:r>
          </a:p>
        </p:txBody>
      </p:sp>
      <p:sp>
        <p:nvSpPr>
          <p:cNvPr id="29" name="PlaceHolder 2"/>
          <p:cNvSpPr>
            <a:spLocks noGrp="1"/>
          </p:cNvSpPr>
          <p:nvPr>
            <p:ph type="body"/>
          </p:nvPr>
        </p:nvSpPr>
        <p:spPr>
          <a:xfrm>
            <a:off x="311760" y="1266480"/>
            <a:ext cx="8519400" cy="3301560"/>
          </a:xfrm>
          <a:prstGeom prst="rect">
            <a:avLst/>
          </a:prstGeom>
          <a:noFill/>
          <a:ln w="0">
            <a:noFill/>
          </a:ln>
        </p:spPr>
        <p:txBody>
          <a:bodyPr lIns="91440" tIns="91440" rIns="91440" bIns="91440" anchor="t">
            <a:normAutofit/>
          </a:bodyPr>
          <a:lstStyle/>
          <a:p>
            <a:pPr marL="432000" indent="-324000">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p>
        </p:txBody>
      </p:sp>
      <p:sp>
        <p:nvSpPr>
          <p:cNvPr id="30" name="PlaceHolder 3"/>
          <p:cNvSpPr>
            <a:spLocks noGrp="1"/>
          </p:cNvSpPr>
          <p:nvPr>
            <p:ph type="sldNum" idx="6"/>
          </p:nvPr>
        </p:nvSpPr>
        <p:spPr>
          <a:xfrm>
            <a:off x="8472600" y="4663080"/>
            <a:ext cx="547560" cy="39240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US" sz="1000" b="0" u="none" strike="noStrike">
                <a:solidFill>
                  <a:schemeClr val="dk2"/>
                </a:solidFill>
                <a:effectLst/>
                <a:uFillTx/>
                <a:latin typeface="Open Sans"/>
                <a:ea typeface="Open Sans"/>
              </a:defRPr>
            </a:lvl1pPr>
          </a:lstStyle>
          <a:p>
            <a:pPr indent="0" algn="r">
              <a:lnSpc>
                <a:spcPct val="100000"/>
              </a:lnSpc>
              <a:buNone/>
              <a:tabLst>
                <a:tab pos="0" algn="l"/>
              </a:tabLst>
            </a:pPr>
            <a:fld id="{7B26B535-D6DF-4218-9D6B-EF30DC416EED}" type="slidenum">
              <a:rPr lang="en-US" sz="1000" b="0" u="none" strike="noStrike">
                <a:solidFill>
                  <a:schemeClr val="dk2"/>
                </a:solidFill>
                <a:effectLst/>
                <a:uFillTx/>
                <a:latin typeface="Open Sans"/>
                <a:ea typeface="Open Sans"/>
              </a:rPr>
              <a:t>‹#›</a:t>
            </a:fld>
            <a:endParaRPr lang="en-US" sz="10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1_TITLE_AND_BODY">
    <p:bg>
      <p:bgPr>
        <a:solidFill>
          <a:schemeClr val="lt1"/>
        </a:solidFill>
        <a:effectLst/>
      </p:bgPr>
    </p:bg>
    <p:spTree>
      <p:nvGrpSpPr>
        <p:cNvPr id="1" name=""/>
        <p:cNvGrpSpPr/>
        <p:nvPr/>
      </p:nvGrpSpPr>
      <p:grpSpPr>
        <a:xfrm>
          <a:off x="0" y="0"/>
          <a:ext cx="0" cy="0"/>
          <a:chOff x="0" y="0"/>
          <a:chExt cx="0" cy="0"/>
        </a:xfrm>
      </p:grpSpPr>
      <p:sp>
        <p:nvSpPr>
          <p:cNvPr id="24" name="Google Shape;26;p4"/>
          <p:cNvSpPr/>
          <p:nvPr/>
        </p:nvSpPr>
        <p:spPr>
          <a:xfrm>
            <a:off x="0" y="5045760"/>
            <a:ext cx="9142920" cy="96840"/>
          </a:xfrm>
          <a:prstGeom prst="rect">
            <a:avLst/>
          </a:prstGeom>
          <a:solidFill>
            <a:schemeClr val="accent3"/>
          </a:solidFill>
          <a:ln w="0">
            <a:noFill/>
          </a:ln>
        </p:spPr>
        <p:style>
          <a:lnRef idx="0">
            <a:scrgbClr r="0" g="0" b="0"/>
          </a:lnRef>
          <a:fillRef idx="0">
            <a:scrgbClr r="0" g="0" b="0"/>
          </a:fillRef>
          <a:effectRef idx="0">
            <a:scrgbClr r="0" g="0" b="0"/>
          </a:effectRef>
          <a:fontRef idx="minor"/>
        </p:style>
        <p:txBody>
          <a:bodyPr lIns="90000" tIns="48600" rIns="90000" bIns="48600" anchor="ctr">
            <a:noAutofit/>
          </a:bodyPr>
          <a:lstStyle/>
          <a:p>
            <a:pPr>
              <a:lnSpc>
                <a:spcPct val="100000"/>
              </a:lnSpc>
            </a:pPr>
            <a:endParaRPr lang="en-US" sz="1400" b="0" u="none" strike="noStrike">
              <a:solidFill>
                <a:srgbClr val="000000"/>
              </a:solidFill>
              <a:effectLst/>
              <a:uFillTx/>
              <a:latin typeface="Arial"/>
              <a:ea typeface="Arial"/>
            </a:endParaRPr>
          </a:p>
        </p:txBody>
      </p:sp>
      <p:sp>
        <p:nvSpPr>
          <p:cNvPr id="25" name="PlaceHolder 1"/>
          <p:cNvSpPr>
            <a:spLocks noGrp="1"/>
          </p:cNvSpPr>
          <p:nvPr>
            <p:ph type="title"/>
          </p:nvPr>
        </p:nvSpPr>
        <p:spPr>
          <a:xfrm>
            <a:off x="311760" y="444960"/>
            <a:ext cx="8519400" cy="706320"/>
          </a:xfrm>
          <a:prstGeom prst="rect">
            <a:avLst/>
          </a:prstGeom>
          <a:noFill/>
          <a:ln w="0">
            <a:noFill/>
          </a:ln>
        </p:spPr>
        <p:txBody>
          <a:bodyPr lIns="91440" tIns="91440" rIns="91440" bIns="91440" anchor="t">
            <a:normAutofit lnSpcReduction="9999"/>
          </a:bodyPr>
          <a:lstStyle/>
          <a:p>
            <a:pPr indent="0">
              <a:lnSpc>
                <a:spcPct val="100000"/>
              </a:lnSpc>
              <a:buNone/>
              <a:tabLst>
                <a:tab pos="0" algn="l"/>
              </a:tabLst>
            </a:pPr>
            <a:r>
              <a:rPr lang="en-US" sz="3600" b="0" u="none" strike="noStrike">
                <a:solidFill>
                  <a:srgbClr val="000000"/>
                </a:solidFill>
                <a:effectLst/>
                <a:uFillTx/>
                <a:latin typeface="Arial"/>
              </a:rPr>
              <a:t>Click to edit the title text format</a:t>
            </a:r>
          </a:p>
        </p:txBody>
      </p:sp>
      <p:sp>
        <p:nvSpPr>
          <p:cNvPr id="26" name="PlaceHolder 2"/>
          <p:cNvSpPr>
            <a:spLocks noGrp="1"/>
          </p:cNvSpPr>
          <p:nvPr>
            <p:ph type="body"/>
          </p:nvPr>
        </p:nvSpPr>
        <p:spPr>
          <a:xfrm>
            <a:off x="311760" y="1266480"/>
            <a:ext cx="8519400" cy="3301560"/>
          </a:xfrm>
          <a:prstGeom prst="rect">
            <a:avLst/>
          </a:prstGeom>
          <a:noFill/>
          <a:ln w="0">
            <a:noFill/>
          </a:ln>
        </p:spPr>
        <p:txBody>
          <a:bodyPr lIns="91440" tIns="91440" rIns="91440" bIns="91440" anchor="t">
            <a:normAutofit/>
          </a:bodyPr>
          <a:lstStyle/>
          <a:p>
            <a:pPr marL="432000" indent="-324000">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p>
        </p:txBody>
      </p:sp>
      <p:sp>
        <p:nvSpPr>
          <p:cNvPr id="27" name="PlaceHolder 3"/>
          <p:cNvSpPr>
            <a:spLocks noGrp="1"/>
          </p:cNvSpPr>
          <p:nvPr>
            <p:ph type="sldNum" idx="5"/>
          </p:nvPr>
        </p:nvSpPr>
        <p:spPr>
          <a:xfrm>
            <a:off x="8472600" y="4663080"/>
            <a:ext cx="547560" cy="39240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US" sz="1000" b="0" u="none" strike="noStrike">
                <a:solidFill>
                  <a:schemeClr val="dk2"/>
                </a:solidFill>
                <a:effectLst/>
                <a:uFillTx/>
                <a:latin typeface="Open Sans"/>
                <a:ea typeface="Open Sans"/>
              </a:defRPr>
            </a:lvl1pPr>
          </a:lstStyle>
          <a:p>
            <a:pPr indent="0" algn="r">
              <a:lnSpc>
                <a:spcPct val="100000"/>
              </a:lnSpc>
              <a:buNone/>
              <a:tabLst>
                <a:tab pos="0" algn="l"/>
              </a:tabLst>
            </a:pPr>
            <a:fld id="{74483C9C-E6B0-4855-ABC9-6AA5A7848865}" type="slidenum">
              <a:rPr lang="en-US" sz="1000" b="0" u="none" strike="noStrike">
                <a:solidFill>
                  <a:schemeClr val="dk2"/>
                </a:solidFill>
                <a:effectLst/>
                <a:uFillTx/>
                <a:latin typeface="Open Sans"/>
                <a:ea typeface="Open Sans"/>
              </a:rPr>
              <a:t>‹#›</a:t>
            </a:fld>
            <a:endParaRPr lang="en-US" sz="10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Default">
    <p:bg>
      <p:bgPr>
        <a:solidFill>
          <a:schemeClr val="lt1"/>
        </a:solidFill>
        <a:effectLst/>
      </p:bgPr>
    </p:bg>
    <p:spTree>
      <p:nvGrpSpPr>
        <p:cNvPr id="1" name=""/>
        <p:cNvGrpSpPr/>
        <p:nvPr/>
      </p:nvGrpSpPr>
      <p:grpSpPr>
        <a:xfrm>
          <a:off x="0" y="0"/>
          <a:ext cx="0" cy="0"/>
          <a:chOff x="0" y="0"/>
          <a:chExt cx="0" cy="0"/>
        </a:xfrm>
      </p:grpSpPr>
      <p:sp>
        <p:nvSpPr>
          <p:cNvPr id="31" name="Google Shape;26;p4"/>
          <p:cNvSpPr/>
          <p:nvPr/>
        </p:nvSpPr>
        <p:spPr>
          <a:xfrm>
            <a:off x="0" y="5045760"/>
            <a:ext cx="9142920" cy="96840"/>
          </a:xfrm>
          <a:prstGeom prst="rect">
            <a:avLst/>
          </a:prstGeom>
          <a:solidFill>
            <a:schemeClr val="accent3"/>
          </a:solidFill>
          <a:ln w="0">
            <a:noFill/>
          </a:ln>
        </p:spPr>
        <p:style>
          <a:lnRef idx="0">
            <a:scrgbClr r="0" g="0" b="0"/>
          </a:lnRef>
          <a:fillRef idx="0">
            <a:scrgbClr r="0" g="0" b="0"/>
          </a:fillRef>
          <a:effectRef idx="0">
            <a:scrgbClr r="0" g="0" b="0"/>
          </a:effectRef>
          <a:fontRef idx="minor"/>
        </p:style>
        <p:txBody>
          <a:bodyPr lIns="90000" tIns="48600" rIns="90000" bIns="48600" anchor="ctr">
            <a:noAutofit/>
          </a:bodyPr>
          <a:lstStyle/>
          <a:p>
            <a:pPr>
              <a:lnSpc>
                <a:spcPct val="100000"/>
              </a:lnSpc>
            </a:pPr>
            <a:endParaRPr lang="en-US" sz="1400" b="0" u="none" strike="noStrike">
              <a:solidFill>
                <a:srgbClr val="000000"/>
              </a:solidFill>
              <a:effectLst/>
              <a:uFillTx/>
              <a:latin typeface="Arial"/>
              <a:ea typeface="Arial"/>
            </a:endParaRPr>
          </a:p>
        </p:txBody>
      </p:sp>
      <p:sp>
        <p:nvSpPr>
          <p:cNvPr id="32" name="PlaceHolder 1"/>
          <p:cNvSpPr>
            <a:spLocks noGrp="1"/>
          </p:cNvSpPr>
          <p:nvPr>
            <p:ph type="title"/>
          </p:nvPr>
        </p:nvSpPr>
        <p:spPr>
          <a:xfrm>
            <a:off x="311760" y="444960"/>
            <a:ext cx="8519400" cy="706320"/>
          </a:xfrm>
          <a:prstGeom prst="rect">
            <a:avLst/>
          </a:prstGeom>
          <a:noFill/>
          <a:ln w="0">
            <a:noFill/>
          </a:ln>
        </p:spPr>
        <p:txBody>
          <a:bodyPr lIns="91440" tIns="91440" rIns="91440" bIns="91440" anchor="t">
            <a:normAutofit lnSpcReduction="9999"/>
          </a:bodyPr>
          <a:lstStyle/>
          <a:p>
            <a:pPr indent="0">
              <a:lnSpc>
                <a:spcPct val="100000"/>
              </a:lnSpc>
              <a:buNone/>
              <a:tabLst>
                <a:tab pos="0" algn="l"/>
              </a:tabLst>
            </a:pPr>
            <a:r>
              <a:rPr lang="en-US" sz="3600" b="0" u="none" strike="noStrike">
                <a:solidFill>
                  <a:srgbClr val="000000"/>
                </a:solidFill>
                <a:effectLst/>
                <a:uFillTx/>
                <a:latin typeface="Arial"/>
              </a:rPr>
              <a:t>Click to edit the title text format</a:t>
            </a:r>
          </a:p>
        </p:txBody>
      </p:sp>
      <p:sp>
        <p:nvSpPr>
          <p:cNvPr id="33" name="PlaceHolder 2"/>
          <p:cNvSpPr>
            <a:spLocks noGrp="1"/>
          </p:cNvSpPr>
          <p:nvPr>
            <p:ph type="body"/>
          </p:nvPr>
        </p:nvSpPr>
        <p:spPr>
          <a:xfrm>
            <a:off x="311760" y="1266480"/>
            <a:ext cx="8519400" cy="3301560"/>
          </a:xfrm>
          <a:prstGeom prst="rect">
            <a:avLst/>
          </a:prstGeom>
          <a:noFill/>
          <a:ln w="0">
            <a:noFill/>
          </a:ln>
        </p:spPr>
        <p:txBody>
          <a:bodyPr lIns="91440" tIns="91440" rIns="91440" bIns="91440" anchor="t">
            <a:normAutofit/>
          </a:bodyPr>
          <a:lstStyle/>
          <a:p>
            <a:pPr marL="432000" indent="-324000">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p>
        </p:txBody>
      </p:sp>
      <p:sp>
        <p:nvSpPr>
          <p:cNvPr id="34" name="PlaceHolder 3"/>
          <p:cNvSpPr>
            <a:spLocks noGrp="1"/>
          </p:cNvSpPr>
          <p:nvPr>
            <p:ph type="sldNum" idx="7"/>
          </p:nvPr>
        </p:nvSpPr>
        <p:spPr>
          <a:xfrm>
            <a:off x="8472600" y="4663080"/>
            <a:ext cx="547560" cy="39240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US" sz="1000" b="0" u="none" strike="noStrike">
                <a:solidFill>
                  <a:schemeClr val="dk2"/>
                </a:solidFill>
                <a:effectLst/>
                <a:uFillTx/>
                <a:latin typeface="Open Sans"/>
                <a:ea typeface="Open Sans"/>
              </a:defRPr>
            </a:lvl1pPr>
          </a:lstStyle>
          <a:p>
            <a:pPr indent="0" algn="r">
              <a:lnSpc>
                <a:spcPct val="100000"/>
              </a:lnSpc>
              <a:buNone/>
              <a:tabLst>
                <a:tab pos="0" algn="l"/>
              </a:tabLst>
            </a:pPr>
            <a:fld id="{A9C3BA38-94D6-474D-82E6-925CB60CF974}" type="slidenum">
              <a:rPr lang="en-US" sz="1000" b="0" u="none" strike="noStrike">
                <a:solidFill>
                  <a:schemeClr val="dk2"/>
                </a:solidFill>
                <a:effectLst/>
                <a:uFillTx/>
                <a:latin typeface="Open Sans"/>
                <a:ea typeface="Open Sans"/>
              </a:rPr>
              <a:t>‹#›</a:t>
            </a:fld>
            <a:endParaRPr lang="en-US" sz="10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accent6"/>
        </a:solidFill>
        <a:effectLst/>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490320" y="526320"/>
            <a:ext cx="5612400" cy="4089600"/>
          </a:xfrm>
          <a:prstGeom prst="rect">
            <a:avLst/>
          </a:prstGeom>
          <a:noFill/>
          <a:ln w="0">
            <a:noFill/>
          </a:ln>
        </p:spPr>
        <p:txBody>
          <a:bodyPr lIns="91440" tIns="91440" rIns="91440" bIns="91440" anchor="ctr">
            <a:normAutofit/>
          </a:bodyPr>
          <a:lstStyle/>
          <a:p>
            <a:pPr indent="0">
              <a:lnSpc>
                <a:spcPct val="100000"/>
              </a:lnSpc>
              <a:buNone/>
              <a:tabLst>
                <a:tab pos="0" algn="l"/>
              </a:tabLst>
            </a:pPr>
            <a:r>
              <a:rPr lang="en-US" sz="5400" b="0" u="none" strike="noStrike">
                <a:solidFill>
                  <a:srgbClr val="000000"/>
                </a:solidFill>
                <a:effectLst/>
                <a:uFillTx/>
                <a:latin typeface="Arial"/>
              </a:rPr>
              <a:t>Click to edit the title text format</a:t>
            </a:r>
          </a:p>
        </p:txBody>
      </p:sp>
      <p:sp>
        <p:nvSpPr>
          <p:cNvPr id="36" name="PlaceHolder 2"/>
          <p:cNvSpPr>
            <a:spLocks noGrp="1"/>
          </p:cNvSpPr>
          <p:nvPr>
            <p:ph type="sldNum" idx="8"/>
          </p:nvPr>
        </p:nvSpPr>
        <p:spPr>
          <a:xfrm>
            <a:off x="8472600" y="4663080"/>
            <a:ext cx="547560" cy="39240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US" sz="1000" b="0" u="none" strike="noStrike">
                <a:solidFill>
                  <a:schemeClr val="dk2"/>
                </a:solidFill>
                <a:effectLst/>
                <a:uFillTx/>
                <a:latin typeface="Open Sans"/>
                <a:ea typeface="Open Sans"/>
              </a:defRPr>
            </a:lvl1pPr>
          </a:lstStyle>
          <a:p>
            <a:pPr indent="0" algn="r">
              <a:lnSpc>
                <a:spcPct val="100000"/>
              </a:lnSpc>
              <a:buNone/>
              <a:tabLst>
                <a:tab pos="0" algn="l"/>
              </a:tabLst>
            </a:pPr>
            <a:fld id="{6480172F-3B36-428F-B9FE-A84983F8EF59}" type="slidenum">
              <a:rPr lang="en-US" sz="1000" b="0" u="none" strike="noStrike">
                <a:solidFill>
                  <a:schemeClr val="dk2"/>
                </a:solidFill>
                <a:effectLst/>
                <a:uFillTx/>
                <a:latin typeface="Open Sans"/>
                <a:ea typeface="Open Sans"/>
              </a:rPr>
              <a:t>‹#›</a:t>
            </a:fld>
            <a:endParaRPr lang="en-US" sz="10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37" name="Google Shape;46;p9"/>
          <p:cNvSpPr/>
          <p:nvPr/>
        </p:nvSpPr>
        <p:spPr>
          <a:xfrm>
            <a:off x="4572000" y="0"/>
            <a:ext cx="4570920" cy="5142600"/>
          </a:xfrm>
          <a:prstGeom prst="rect">
            <a:avLst/>
          </a:prstGeom>
          <a:solidFill>
            <a:schemeClr val="accent3"/>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US" sz="1400" b="0" u="none" strike="noStrike">
              <a:solidFill>
                <a:srgbClr val="000000"/>
              </a:solidFill>
              <a:effectLst/>
              <a:uFillTx/>
              <a:latin typeface="Arial"/>
              <a:ea typeface="Arial"/>
            </a:endParaRPr>
          </a:p>
        </p:txBody>
      </p:sp>
      <p:cxnSp>
        <p:nvCxnSpPr>
          <p:cNvPr id="38" name="Google Shape;47;p9"/>
          <p:cNvCxnSpPr/>
          <p:nvPr/>
        </p:nvCxnSpPr>
        <p:spPr>
          <a:xfrm>
            <a:off x="5029560" y="4495320"/>
            <a:ext cx="469440" cy="1080"/>
          </a:xfrm>
          <a:prstGeom prst="straightConnector1">
            <a:avLst/>
          </a:prstGeom>
          <a:ln w="19050">
            <a:solidFill>
              <a:srgbClr val="FFFFFF"/>
            </a:solidFill>
            <a:round/>
          </a:ln>
        </p:spPr>
      </p:cxnSp>
      <p:sp>
        <p:nvSpPr>
          <p:cNvPr id="39" name="PlaceHolder 1"/>
          <p:cNvSpPr>
            <a:spLocks noGrp="1"/>
          </p:cNvSpPr>
          <p:nvPr>
            <p:ph type="title"/>
          </p:nvPr>
        </p:nvSpPr>
        <p:spPr>
          <a:xfrm>
            <a:off x="265680" y="1039680"/>
            <a:ext cx="4044240" cy="167472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4200" b="0" u="none" strike="noStrike">
                <a:solidFill>
                  <a:srgbClr val="000000"/>
                </a:solidFill>
                <a:effectLst/>
                <a:uFillTx/>
                <a:latin typeface="Arial"/>
              </a:rPr>
              <a:t>Click to edit the title text format</a:t>
            </a:r>
          </a:p>
        </p:txBody>
      </p:sp>
      <p:sp>
        <p:nvSpPr>
          <p:cNvPr id="40" name="PlaceHolder 2"/>
          <p:cNvSpPr>
            <a:spLocks noGrp="1"/>
          </p:cNvSpPr>
          <p:nvPr>
            <p:ph type="body"/>
          </p:nvPr>
        </p:nvSpPr>
        <p:spPr>
          <a:xfrm>
            <a:off x="4939560" y="724320"/>
            <a:ext cx="3835800" cy="3693960"/>
          </a:xfrm>
          <a:prstGeom prst="rect">
            <a:avLst/>
          </a:prstGeom>
          <a:noFill/>
          <a:ln w="0">
            <a:noFill/>
          </a:ln>
        </p:spPr>
        <p:txBody>
          <a:bodyPr lIns="91440" tIns="91440" rIns="91440" bIns="91440" anchor="ctr">
            <a:normAutofit fontScale="85000" lnSpcReduction="9999"/>
          </a:bodyPr>
          <a:lstStyle/>
          <a:p>
            <a:pPr marL="432000" indent="-324000">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p>
        </p:txBody>
      </p:sp>
      <p:sp>
        <p:nvSpPr>
          <p:cNvPr id="41" name="PlaceHolder 3"/>
          <p:cNvSpPr>
            <a:spLocks noGrp="1"/>
          </p:cNvSpPr>
          <p:nvPr>
            <p:ph type="sldNum" idx="9"/>
          </p:nvPr>
        </p:nvSpPr>
        <p:spPr>
          <a:xfrm>
            <a:off x="8472600" y="4663080"/>
            <a:ext cx="547560" cy="39240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US" sz="1000" b="0" u="none" strike="noStrike">
                <a:solidFill>
                  <a:schemeClr val="lt1"/>
                </a:solidFill>
                <a:effectLst/>
                <a:uFillTx/>
                <a:latin typeface="Open Sans"/>
                <a:ea typeface="Open Sans"/>
              </a:defRPr>
            </a:lvl1pPr>
          </a:lstStyle>
          <a:p>
            <a:pPr indent="0" algn="r">
              <a:lnSpc>
                <a:spcPct val="100000"/>
              </a:lnSpc>
              <a:buNone/>
              <a:tabLst>
                <a:tab pos="0" algn="l"/>
              </a:tabLst>
            </a:pPr>
            <a:fld id="{4F15A929-2EB6-41EC-9275-C87247CF585B}" type="slidenum">
              <a:rPr lang="en-US" sz="1000" b="0" u="none" strike="noStrike">
                <a:solidFill>
                  <a:schemeClr val="lt1"/>
                </a:solidFill>
                <a:effectLst/>
                <a:uFillTx/>
                <a:latin typeface="Open Sans"/>
                <a:ea typeface="Open Sans"/>
              </a:rPr>
              <a:t>‹#›</a:t>
            </a:fld>
            <a:endParaRPr lang="en-US" sz="10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42" name="PlaceHolder 1"/>
          <p:cNvSpPr>
            <a:spLocks noGrp="1"/>
          </p:cNvSpPr>
          <p:nvPr>
            <p:ph type="body"/>
          </p:nvPr>
        </p:nvSpPr>
        <p:spPr>
          <a:xfrm>
            <a:off x="311760" y="4230720"/>
            <a:ext cx="5997600" cy="597600"/>
          </a:xfrm>
          <a:prstGeom prst="rect">
            <a:avLst/>
          </a:prstGeom>
          <a:noFill/>
          <a:ln w="0">
            <a:noFill/>
          </a:ln>
        </p:spPr>
        <p:txBody>
          <a:bodyPr lIns="91440" tIns="91440" rIns="91440" bIns="91440" anchor="ctr">
            <a:normAutofit fontScale="25000" lnSpcReduction="19999"/>
          </a:bodyPr>
          <a:lstStyle/>
          <a:p>
            <a:pPr marL="432000" indent="-324000">
              <a:lnSpc>
                <a:spcPct val="100000"/>
              </a:lnSpc>
              <a:spcBef>
                <a:spcPts val="1417"/>
              </a:spcBef>
              <a:buClr>
                <a:srgbClr val="000000"/>
              </a:buClr>
              <a:buSzPct val="45000"/>
              <a:buFont typeface="Wingdings" charset="2"/>
              <a:buChar char=""/>
            </a:pPr>
            <a:r>
              <a:rPr lang="en-US" sz="2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US" sz="2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US" sz="2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US" sz="2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US" sz="2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US" sz="2400" b="0" u="none" strike="noStrike">
                <a:solidFill>
                  <a:srgbClr val="000000"/>
                </a:solidFill>
                <a:effectLst/>
                <a:uFillTx/>
                <a:latin typeface="Arial"/>
              </a:rPr>
              <a:t>Seventh Outline Level</a:t>
            </a:r>
          </a:p>
        </p:txBody>
      </p:sp>
      <p:sp>
        <p:nvSpPr>
          <p:cNvPr id="43" name="PlaceHolder 2"/>
          <p:cNvSpPr>
            <a:spLocks noGrp="1"/>
          </p:cNvSpPr>
          <p:nvPr>
            <p:ph type="sldNum" idx="10"/>
          </p:nvPr>
        </p:nvSpPr>
        <p:spPr>
          <a:xfrm>
            <a:off x="8472600" y="4663080"/>
            <a:ext cx="547560" cy="39240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US" sz="1000" b="0" u="none" strike="noStrike">
                <a:solidFill>
                  <a:schemeClr val="dk2"/>
                </a:solidFill>
                <a:effectLst/>
                <a:uFillTx/>
                <a:latin typeface="Open Sans"/>
                <a:ea typeface="Open Sans"/>
              </a:defRPr>
            </a:lvl1pPr>
          </a:lstStyle>
          <a:p>
            <a:pPr indent="0" algn="r">
              <a:lnSpc>
                <a:spcPct val="100000"/>
              </a:lnSpc>
              <a:buNone/>
              <a:tabLst>
                <a:tab pos="0" algn="l"/>
              </a:tabLst>
            </a:pPr>
            <a:fld id="{C0C4EA74-9303-4079-B271-22129EF2DED5}" type="slidenum">
              <a:rPr lang="en-US" sz="1000" b="0" u="none" strike="noStrike">
                <a:solidFill>
                  <a:schemeClr val="dk2"/>
                </a:solidFill>
                <a:effectLst/>
                <a:uFillTx/>
                <a:latin typeface="Open Sans"/>
                <a:ea typeface="Open Sans"/>
              </a:rPr>
              <a:t>‹#›</a:t>
            </a:fld>
            <a:endParaRPr lang="en-US" sz="10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44" name="Google Shape;56;p11"/>
          <p:cNvSpPr/>
          <p:nvPr/>
        </p:nvSpPr>
        <p:spPr>
          <a:xfrm>
            <a:off x="0" y="5045760"/>
            <a:ext cx="9142920" cy="968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lIns="90000" tIns="48600" rIns="90000" bIns="48600" anchor="ctr">
            <a:noAutofit/>
          </a:bodyPr>
          <a:lstStyle/>
          <a:p>
            <a:pPr>
              <a:lnSpc>
                <a:spcPct val="100000"/>
              </a:lnSpc>
              <a:tabLst>
                <a:tab pos="0" algn="l"/>
              </a:tabLst>
            </a:pPr>
            <a:endParaRPr lang="en-US" sz="1400" b="0" u="none" strike="noStrike">
              <a:solidFill>
                <a:srgbClr val="000000"/>
              </a:solidFill>
              <a:effectLst/>
              <a:uFillTx/>
              <a:latin typeface="Arial"/>
              <a:ea typeface="Arial"/>
            </a:endParaRPr>
          </a:p>
        </p:txBody>
      </p:sp>
      <p:sp>
        <p:nvSpPr>
          <p:cNvPr id="45" name="PlaceHolder 1"/>
          <p:cNvSpPr>
            <a:spLocks noGrp="1"/>
          </p:cNvSpPr>
          <p:nvPr>
            <p:ph type="title"/>
          </p:nvPr>
        </p:nvSpPr>
        <p:spPr>
          <a:xfrm>
            <a:off x="311760" y="1305000"/>
            <a:ext cx="8519400" cy="1537200"/>
          </a:xfrm>
          <a:prstGeom prst="rect">
            <a:avLst/>
          </a:prstGeom>
          <a:noFill/>
          <a:ln w="0">
            <a:noFill/>
          </a:ln>
        </p:spPr>
        <p:txBody>
          <a:bodyPr lIns="91440" tIns="91440" rIns="91440" bIns="91440" anchor="ctr">
            <a:normAutofit fontScale="85000" lnSpcReduction="19999"/>
          </a:bodyPr>
          <a:lstStyle/>
          <a:p>
            <a:pPr indent="0" algn="ctr">
              <a:lnSpc>
                <a:spcPct val="100000"/>
              </a:lnSpc>
              <a:buNone/>
              <a:tabLst>
                <a:tab pos="0" algn="l"/>
              </a:tabLst>
            </a:pPr>
            <a:r>
              <a:rPr lang="en-US" sz="13000" b="1" u="none" strike="noStrike">
                <a:solidFill>
                  <a:schemeClr val="accent3"/>
                </a:solidFill>
                <a:effectLst/>
                <a:uFillTx/>
                <a:latin typeface="PT Sans Narrow"/>
                <a:ea typeface="PT Sans Narrow"/>
              </a:rPr>
              <a:t>xx%</a:t>
            </a:r>
            <a:endParaRPr lang="en-US" sz="13000" b="0" u="none" strike="noStrike">
              <a:solidFill>
                <a:srgbClr val="000000"/>
              </a:solidFill>
              <a:effectLst/>
              <a:uFillTx/>
              <a:latin typeface="Arial"/>
            </a:endParaRPr>
          </a:p>
        </p:txBody>
      </p:sp>
      <p:sp>
        <p:nvSpPr>
          <p:cNvPr id="46" name="PlaceHolder 2"/>
          <p:cNvSpPr>
            <a:spLocks noGrp="1"/>
          </p:cNvSpPr>
          <p:nvPr>
            <p:ph type="body"/>
          </p:nvPr>
        </p:nvSpPr>
        <p:spPr>
          <a:xfrm>
            <a:off x="311760" y="2995560"/>
            <a:ext cx="8519400" cy="1070640"/>
          </a:xfrm>
          <a:prstGeom prst="rect">
            <a:avLst/>
          </a:prstGeom>
          <a:noFill/>
          <a:ln w="0">
            <a:noFill/>
          </a:ln>
        </p:spPr>
        <p:txBody>
          <a:bodyPr lIns="91440" tIns="91440" rIns="91440" bIns="91440" anchor="t">
            <a:normAutofit fontScale="32500" lnSpcReduction="19999"/>
          </a:bodyPr>
          <a:lstStyle/>
          <a:p>
            <a:pPr marL="432000" indent="-324000">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p>
        </p:txBody>
      </p:sp>
      <p:sp>
        <p:nvSpPr>
          <p:cNvPr id="47" name="PlaceHolder 3"/>
          <p:cNvSpPr>
            <a:spLocks noGrp="1"/>
          </p:cNvSpPr>
          <p:nvPr>
            <p:ph type="sldNum" idx="11"/>
          </p:nvPr>
        </p:nvSpPr>
        <p:spPr>
          <a:xfrm>
            <a:off x="8472600" y="4663080"/>
            <a:ext cx="547560" cy="39240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US" sz="1000" b="0" u="none" strike="noStrike">
                <a:solidFill>
                  <a:schemeClr val="dk2"/>
                </a:solidFill>
                <a:effectLst/>
                <a:uFillTx/>
                <a:latin typeface="Open Sans"/>
                <a:ea typeface="Open Sans"/>
              </a:defRPr>
            </a:lvl1pPr>
          </a:lstStyle>
          <a:p>
            <a:pPr indent="0" algn="r">
              <a:lnSpc>
                <a:spcPct val="100000"/>
              </a:lnSpc>
              <a:buNone/>
              <a:tabLst>
                <a:tab pos="0" algn="l"/>
              </a:tabLst>
            </a:pPr>
            <a:fld id="{AC773DD2-73FA-4BF6-9992-8FCFFE36A31D}" type="slidenum">
              <a:rPr lang="en-US" sz="1000" b="0" u="none" strike="noStrike">
                <a:solidFill>
                  <a:schemeClr val="dk2"/>
                </a:solidFill>
                <a:effectLst/>
                <a:uFillTx/>
                <a:latin typeface="Open Sans"/>
                <a:ea typeface="Open Sans"/>
              </a:rPr>
              <a:t>‹#›</a:t>
            </a:fld>
            <a:endParaRPr lang="en-US" sz="1000" b="0" u="none" strike="noStrike">
              <a:solidFill>
                <a:srgbClr val="000000"/>
              </a:solidFill>
              <a:effectLst/>
              <a:uFillTx/>
              <a:latin typeface="Times New Roman"/>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lt1"/>
        </a:solidFill>
        <a:effectLst/>
      </p:bgPr>
    </p:bg>
    <p:spTree>
      <p:nvGrpSpPr>
        <p:cNvPr id="1" name=""/>
        <p:cNvGrpSpPr/>
        <p:nvPr/>
      </p:nvGrpSpPr>
      <p:grpSpPr>
        <a:xfrm>
          <a:off x="0" y="0"/>
          <a:ext cx="0" cy="0"/>
          <a:chOff x="0" y="0"/>
          <a:chExt cx="0" cy="0"/>
        </a:xfrm>
      </p:grpSpPr>
      <p:sp>
        <p:nvSpPr>
          <p:cNvPr id="48" name="PlaceHolder 1"/>
          <p:cNvSpPr>
            <a:spLocks noGrp="1"/>
          </p:cNvSpPr>
          <p:nvPr>
            <p:ph type="sldNum" idx="12"/>
          </p:nvPr>
        </p:nvSpPr>
        <p:spPr>
          <a:xfrm>
            <a:off x="8472600" y="4663080"/>
            <a:ext cx="547560" cy="39240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US" sz="1000" b="0" u="none" strike="noStrike">
                <a:solidFill>
                  <a:schemeClr val="dk2"/>
                </a:solidFill>
                <a:effectLst/>
                <a:uFillTx/>
                <a:latin typeface="Open Sans"/>
                <a:ea typeface="Open Sans"/>
              </a:defRPr>
            </a:lvl1pPr>
          </a:lstStyle>
          <a:p>
            <a:pPr indent="0" algn="r">
              <a:lnSpc>
                <a:spcPct val="100000"/>
              </a:lnSpc>
              <a:buNone/>
              <a:tabLst>
                <a:tab pos="0" algn="l"/>
              </a:tabLst>
            </a:pPr>
            <a:fld id="{E02277C1-7868-40A9-AD1D-95DFCEAD99C0}" type="slidenum">
              <a:rPr lang="en-US" sz="1000" b="0" u="none" strike="noStrike">
                <a:solidFill>
                  <a:schemeClr val="dk2"/>
                </a:solidFill>
                <a:effectLst/>
                <a:uFillTx/>
                <a:latin typeface="Open Sans"/>
                <a:ea typeface="Open Sans"/>
              </a:rPr>
              <a:t>‹#›</a:t>
            </a:fld>
            <a:endParaRPr lang="en-US" sz="1000" b="0" u="none" strike="noStrike">
              <a:solidFill>
                <a:srgbClr val="000000"/>
              </a:solidFill>
              <a:effectLst/>
              <a:uFillTx/>
              <a:latin typeface="Times New Roman"/>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49" name="Google Shape;22;p3"/>
          <p:cNvSpPr/>
          <p:nvPr/>
        </p:nvSpPr>
        <p:spPr>
          <a:xfrm>
            <a:off x="0" y="2571840"/>
            <a:ext cx="9142920" cy="2570400"/>
          </a:xfrm>
          <a:prstGeom prst="rect">
            <a:avLst/>
          </a:prstGeom>
          <a:solidFill>
            <a:schemeClr val="accent3"/>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US" sz="1400" b="0" u="none" strike="noStrike">
              <a:solidFill>
                <a:srgbClr val="000000"/>
              </a:solidFill>
              <a:effectLst/>
              <a:uFillTx/>
              <a:latin typeface="Arial"/>
              <a:ea typeface="Arial"/>
            </a:endParaRPr>
          </a:p>
        </p:txBody>
      </p:sp>
      <p:sp>
        <p:nvSpPr>
          <p:cNvPr id="50" name="PlaceHolder 1"/>
          <p:cNvSpPr>
            <a:spLocks noGrp="1"/>
          </p:cNvSpPr>
          <p:nvPr>
            <p:ph type="title"/>
          </p:nvPr>
        </p:nvSpPr>
        <p:spPr>
          <a:xfrm>
            <a:off x="311760" y="814680"/>
            <a:ext cx="8570160" cy="941040"/>
          </a:xfrm>
          <a:prstGeom prst="rect">
            <a:avLst/>
          </a:prstGeom>
          <a:noFill/>
          <a:ln w="0">
            <a:noFill/>
          </a:ln>
        </p:spPr>
        <p:txBody>
          <a:bodyPr lIns="91440" tIns="91440" rIns="91440" bIns="91440" anchor="ctr">
            <a:normAutofit/>
          </a:bodyPr>
          <a:lstStyle/>
          <a:p>
            <a:pPr indent="0">
              <a:lnSpc>
                <a:spcPct val="100000"/>
              </a:lnSpc>
              <a:buNone/>
              <a:tabLst>
                <a:tab pos="0" algn="l"/>
              </a:tabLst>
            </a:pPr>
            <a:r>
              <a:rPr lang="en-US" sz="3600" b="0" u="none" strike="noStrike">
                <a:solidFill>
                  <a:srgbClr val="000000"/>
                </a:solidFill>
                <a:effectLst/>
                <a:uFillTx/>
                <a:latin typeface="Arial"/>
              </a:rPr>
              <a:t>Click to edit the title text format</a:t>
            </a:r>
          </a:p>
        </p:txBody>
      </p:sp>
      <p:sp>
        <p:nvSpPr>
          <p:cNvPr id="51" name="PlaceHolder 2"/>
          <p:cNvSpPr>
            <a:spLocks noGrp="1"/>
          </p:cNvSpPr>
          <p:nvPr>
            <p:ph type="sldNum" idx="13"/>
          </p:nvPr>
        </p:nvSpPr>
        <p:spPr>
          <a:xfrm>
            <a:off x="8472600" y="4663080"/>
            <a:ext cx="547560" cy="39240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US" sz="1000" b="0" u="none" strike="noStrike">
                <a:solidFill>
                  <a:schemeClr val="lt1"/>
                </a:solidFill>
                <a:effectLst/>
                <a:uFillTx/>
                <a:latin typeface="Open Sans"/>
                <a:ea typeface="Open Sans"/>
              </a:defRPr>
            </a:lvl1pPr>
          </a:lstStyle>
          <a:p>
            <a:pPr indent="0" algn="r">
              <a:lnSpc>
                <a:spcPct val="100000"/>
              </a:lnSpc>
              <a:buNone/>
              <a:tabLst>
                <a:tab pos="0" algn="l"/>
              </a:tabLst>
            </a:pPr>
            <a:fld id="{EE75F5EE-255A-4151-B881-DCF2054FEAF8}" type="slidenum">
              <a:rPr lang="en-US" sz="1000" b="0" u="none" strike="noStrike">
                <a:solidFill>
                  <a:schemeClr val="lt1"/>
                </a:solidFill>
                <a:effectLst/>
                <a:uFillTx/>
                <a:latin typeface="Open Sans"/>
                <a:ea typeface="Open Sans"/>
              </a:rPr>
              <a:t>‹#›</a:t>
            </a:fld>
            <a:endParaRPr lang="en-US" sz="1000" b="0" u="none" strike="noStrike">
              <a:solidFill>
                <a:srgbClr val="000000"/>
              </a:solidFill>
              <a:effectLst/>
              <a:uFillTx/>
              <a:latin typeface="Times New Roman"/>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52" name="Google Shape;26;p4"/>
          <p:cNvSpPr/>
          <p:nvPr/>
        </p:nvSpPr>
        <p:spPr>
          <a:xfrm>
            <a:off x="0" y="5045760"/>
            <a:ext cx="9142920" cy="96840"/>
          </a:xfrm>
          <a:prstGeom prst="rect">
            <a:avLst/>
          </a:prstGeom>
          <a:solidFill>
            <a:schemeClr val="accent3"/>
          </a:solidFill>
          <a:ln w="0">
            <a:noFill/>
          </a:ln>
        </p:spPr>
        <p:style>
          <a:lnRef idx="0">
            <a:scrgbClr r="0" g="0" b="0"/>
          </a:lnRef>
          <a:fillRef idx="0">
            <a:scrgbClr r="0" g="0" b="0"/>
          </a:fillRef>
          <a:effectRef idx="0">
            <a:scrgbClr r="0" g="0" b="0"/>
          </a:effectRef>
          <a:fontRef idx="minor"/>
        </p:style>
        <p:txBody>
          <a:bodyPr lIns="90000" tIns="48600" rIns="90000" bIns="48600" anchor="ctr">
            <a:noAutofit/>
          </a:bodyPr>
          <a:lstStyle/>
          <a:p>
            <a:pPr>
              <a:lnSpc>
                <a:spcPct val="100000"/>
              </a:lnSpc>
              <a:tabLst>
                <a:tab pos="0" algn="l"/>
              </a:tabLst>
            </a:pPr>
            <a:endParaRPr lang="en-US" sz="1400" b="0" u="none" strike="noStrike">
              <a:solidFill>
                <a:srgbClr val="000000"/>
              </a:solidFill>
              <a:effectLst/>
              <a:uFillTx/>
              <a:latin typeface="Arial"/>
              <a:ea typeface="Arial"/>
            </a:endParaRPr>
          </a:p>
        </p:txBody>
      </p:sp>
      <p:sp>
        <p:nvSpPr>
          <p:cNvPr id="53" name="PlaceHolder 1"/>
          <p:cNvSpPr>
            <a:spLocks noGrp="1"/>
          </p:cNvSpPr>
          <p:nvPr>
            <p:ph type="title"/>
          </p:nvPr>
        </p:nvSpPr>
        <p:spPr>
          <a:xfrm>
            <a:off x="311760" y="444960"/>
            <a:ext cx="8519400" cy="706320"/>
          </a:xfrm>
          <a:prstGeom prst="rect">
            <a:avLst/>
          </a:prstGeom>
          <a:noFill/>
          <a:ln w="0">
            <a:noFill/>
          </a:ln>
        </p:spPr>
        <p:txBody>
          <a:bodyPr lIns="91440" tIns="91440" rIns="91440" bIns="91440" anchor="t">
            <a:normAutofit lnSpcReduction="9999"/>
          </a:bodyPr>
          <a:lstStyle/>
          <a:p>
            <a:pPr indent="0">
              <a:lnSpc>
                <a:spcPct val="100000"/>
              </a:lnSpc>
              <a:buNone/>
              <a:tabLst>
                <a:tab pos="0" algn="l"/>
              </a:tabLst>
            </a:pPr>
            <a:r>
              <a:rPr lang="en-US" sz="3600" b="0" u="none" strike="noStrike">
                <a:solidFill>
                  <a:srgbClr val="000000"/>
                </a:solidFill>
                <a:effectLst/>
                <a:uFillTx/>
                <a:latin typeface="Arial"/>
              </a:rPr>
              <a:t>Click to edit the title text format</a:t>
            </a:r>
          </a:p>
        </p:txBody>
      </p:sp>
      <p:sp>
        <p:nvSpPr>
          <p:cNvPr id="54" name="PlaceHolder 2"/>
          <p:cNvSpPr>
            <a:spLocks noGrp="1"/>
          </p:cNvSpPr>
          <p:nvPr>
            <p:ph type="body"/>
          </p:nvPr>
        </p:nvSpPr>
        <p:spPr>
          <a:xfrm>
            <a:off x="311760" y="1266480"/>
            <a:ext cx="8519400" cy="3301560"/>
          </a:xfrm>
          <a:prstGeom prst="rect">
            <a:avLst/>
          </a:prstGeom>
          <a:noFill/>
          <a:ln w="0">
            <a:noFill/>
          </a:ln>
        </p:spPr>
        <p:txBody>
          <a:bodyPr lIns="91440" tIns="91440" rIns="91440" bIns="91440" anchor="t">
            <a:normAutofit/>
          </a:bodyPr>
          <a:lstStyle/>
          <a:p>
            <a:pPr marL="432000" indent="-324000">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p>
        </p:txBody>
      </p:sp>
      <p:sp>
        <p:nvSpPr>
          <p:cNvPr id="55" name="PlaceHolder 3"/>
          <p:cNvSpPr>
            <a:spLocks noGrp="1"/>
          </p:cNvSpPr>
          <p:nvPr>
            <p:ph type="sldNum" idx="14"/>
          </p:nvPr>
        </p:nvSpPr>
        <p:spPr>
          <a:xfrm>
            <a:off x="8472600" y="4663080"/>
            <a:ext cx="547560" cy="39240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US" sz="1000" b="0" u="none" strike="noStrike">
                <a:solidFill>
                  <a:schemeClr val="dk2"/>
                </a:solidFill>
                <a:effectLst/>
                <a:uFillTx/>
                <a:latin typeface="Open Sans"/>
                <a:ea typeface="Open Sans"/>
              </a:defRPr>
            </a:lvl1pPr>
          </a:lstStyle>
          <a:p>
            <a:pPr indent="0" algn="r">
              <a:lnSpc>
                <a:spcPct val="100000"/>
              </a:lnSpc>
              <a:buNone/>
              <a:tabLst>
                <a:tab pos="0" algn="l"/>
              </a:tabLst>
            </a:pPr>
            <a:fld id="{ADE5BAB5-DD0D-4916-B8F4-9BA07EF07AAC}" type="slidenum">
              <a:rPr lang="en-US" sz="1000" b="0" u="none" strike="noStrike">
                <a:solidFill>
                  <a:schemeClr val="dk2"/>
                </a:solidFill>
                <a:effectLst/>
                <a:uFillTx/>
                <a:latin typeface="Open Sans"/>
                <a:ea typeface="Open Sans"/>
              </a:rPr>
              <a:t>‹#›</a:t>
            </a:fld>
            <a:endParaRPr lang="en-US" sz="1000" b="0" u="none" strike="noStrike">
              <a:solidFill>
                <a:srgbClr val="000000"/>
              </a:solidFill>
              <a:effectLst/>
              <a:uFillTx/>
              <a:latin typeface="Times New Roman"/>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Default 1">
    <p:bg>
      <p:bgPr>
        <a:solidFill>
          <a:schemeClr val="lt1"/>
        </a:solidFill>
        <a:effectLst/>
      </p:bgPr>
    </p:bg>
    <p:spTree>
      <p:nvGrpSpPr>
        <p:cNvPr id="1" name=""/>
        <p:cNvGrpSpPr/>
        <p:nvPr/>
      </p:nvGrpSpPr>
      <p:grpSpPr>
        <a:xfrm>
          <a:off x="0" y="0"/>
          <a:ext cx="0" cy="0"/>
          <a:chOff x="0" y="0"/>
          <a:chExt cx="0" cy="0"/>
        </a:xfrm>
      </p:grpSpPr>
      <p:sp>
        <p:nvSpPr>
          <p:cNvPr id="56" name="Google Shape;26;p4"/>
          <p:cNvSpPr/>
          <p:nvPr/>
        </p:nvSpPr>
        <p:spPr>
          <a:xfrm>
            <a:off x="0" y="5045760"/>
            <a:ext cx="9142920" cy="96840"/>
          </a:xfrm>
          <a:prstGeom prst="rect">
            <a:avLst/>
          </a:prstGeom>
          <a:solidFill>
            <a:schemeClr val="accent3"/>
          </a:solidFill>
          <a:ln w="0">
            <a:noFill/>
          </a:ln>
        </p:spPr>
        <p:style>
          <a:lnRef idx="0">
            <a:scrgbClr r="0" g="0" b="0"/>
          </a:lnRef>
          <a:fillRef idx="0">
            <a:scrgbClr r="0" g="0" b="0"/>
          </a:fillRef>
          <a:effectRef idx="0">
            <a:scrgbClr r="0" g="0" b="0"/>
          </a:effectRef>
          <a:fontRef idx="minor"/>
        </p:style>
        <p:txBody>
          <a:bodyPr lIns="90000" tIns="48600" rIns="90000" bIns="48600" anchor="ctr">
            <a:noAutofit/>
          </a:bodyPr>
          <a:lstStyle/>
          <a:p>
            <a:pPr>
              <a:lnSpc>
                <a:spcPct val="100000"/>
              </a:lnSpc>
              <a:tabLst>
                <a:tab pos="0" algn="l"/>
              </a:tabLst>
            </a:pPr>
            <a:endParaRPr lang="en-US" sz="1400" b="0" u="none" strike="noStrike">
              <a:solidFill>
                <a:srgbClr val="000000"/>
              </a:solidFill>
              <a:effectLst/>
              <a:uFillTx/>
              <a:latin typeface="Arial"/>
              <a:ea typeface="Arial"/>
            </a:endParaRPr>
          </a:p>
        </p:txBody>
      </p:sp>
      <p:sp>
        <p:nvSpPr>
          <p:cNvPr id="57" name="PlaceHolder 1"/>
          <p:cNvSpPr>
            <a:spLocks noGrp="1"/>
          </p:cNvSpPr>
          <p:nvPr>
            <p:ph type="title"/>
          </p:nvPr>
        </p:nvSpPr>
        <p:spPr>
          <a:xfrm>
            <a:off x="311760" y="444960"/>
            <a:ext cx="8519400" cy="706320"/>
          </a:xfrm>
          <a:prstGeom prst="rect">
            <a:avLst/>
          </a:prstGeom>
          <a:noFill/>
          <a:ln w="0">
            <a:noFill/>
          </a:ln>
        </p:spPr>
        <p:txBody>
          <a:bodyPr lIns="91440" tIns="91440" rIns="91440" bIns="91440" anchor="t">
            <a:normAutofit lnSpcReduction="9999"/>
          </a:bodyPr>
          <a:lstStyle/>
          <a:p>
            <a:pPr indent="0">
              <a:lnSpc>
                <a:spcPct val="100000"/>
              </a:lnSpc>
              <a:buNone/>
              <a:tabLst>
                <a:tab pos="0" algn="l"/>
              </a:tabLst>
            </a:pPr>
            <a:r>
              <a:rPr lang="en-US" sz="3600" b="0" u="none" strike="noStrike">
                <a:solidFill>
                  <a:srgbClr val="000000"/>
                </a:solidFill>
                <a:effectLst/>
                <a:uFillTx/>
                <a:latin typeface="Arial"/>
              </a:rPr>
              <a:t>Click to edit the title text format</a:t>
            </a:r>
          </a:p>
        </p:txBody>
      </p:sp>
      <p:sp>
        <p:nvSpPr>
          <p:cNvPr id="58" name="PlaceHolder 2"/>
          <p:cNvSpPr>
            <a:spLocks noGrp="1"/>
          </p:cNvSpPr>
          <p:nvPr>
            <p:ph type="body"/>
          </p:nvPr>
        </p:nvSpPr>
        <p:spPr>
          <a:xfrm>
            <a:off x="311760" y="1266480"/>
            <a:ext cx="8519400" cy="3301560"/>
          </a:xfrm>
          <a:prstGeom prst="rect">
            <a:avLst/>
          </a:prstGeom>
          <a:noFill/>
          <a:ln w="0">
            <a:noFill/>
          </a:ln>
        </p:spPr>
        <p:txBody>
          <a:bodyPr lIns="91440" tIns="91440" rIns="91440" bIns="91440" anchor="t">
            <a:normAutofit/>
          </a:bodyPr>
          <a:lstStyle/>
          <a:p>
            <a:pPr marL="432000" indent="-324000">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p>
        </p:txBody>
      </p:sp>
      <p:sp>
        <p:nvSpPr>
          <p:cNvPr id="59" name="PlaceHolder 3"/>
          <p:cNvSpPr>
            <a:spLocks noGrp="1"/>
          </p:cNvSpPr>
          <p:nvPr>
            <p:ph type="sldNum" idx="15"/>
          </p:nvPr>
        </p:nvSpPr>
        <p:spPr>
          <a:xfrm>
            <a:off x="8472600" y="4663080"/>
            <a:ext cx="547560" cy="392400"/>
          </a:xfrm>
          <a:prstGeom prst="rect">
            <a:avLst/>
          </a:prstGeom>
          <a:noFill/>
          <a:ln w="0">
            <a:noFill/>
          </a:ln>
        </p:spPr>
        <p:txBody>
          <a:bodyPr lIns="91440" tIns="91440" rIns="91440" bIns="91440" anchor="ctr">
            <a:normAutofit/>
          </a:bodyPr>
          <a:lstStyle>
            <a:lvl1pPr indent="0" algn="r">
              <a:lnSpc>
                <a:spcPct val="100000"/>
              </a:lnSpc>
              <a:buNone/>
              <a:tabLst>
                <a:tab pos="0" algn="l"/>
              </a:tabLst>
              <a:defRPr lang="en-US" sz="1000" b="0" u="none" strike="noStrike">
                <a:solidFill>
                  <a:schemeClr val="dk2"/>
                </a:solidFill>
                <a:effectLst/>
                <a:uFillTx/>
                <a:latin typeface="Open Sans"/>
                <a:ea typeface="Open Sans"/>
              </a:defRPr>
            </a:lvl1pPr>
          </a:lstStyle>
          <a:p>
            <a:pPr indent="0" algn="r">
              <a:lnSpc>
                <a:spcPct val="100000"/>
              </a:lnSpc>
              <a:buNone/>
              <a:tabLst>
                <a:tab pos="0" algn="l"/>
              </a:tabLst>
            </a:pPr>
            <a:fld id="{E305D59A-1E61-4248-BB8F-32B6613FA6F7}" type="slidenum">
              <a:rPr lang="en-US" sz="1000" b="0" u="none" strike="noStrike">
                <a:solidFill>
                  <a:schemeClr val="dk2"/>
                </a:solidFill>
                <a:effectLst/>
                <a:uFillTx/>
                <a:latin typeface="Open Sans"/>
                <a:ea typeface="Open Sans"/>
              </a:rPr>
              <a:t>‹#›</a:t>
            </a:fld>
            <a:endParaRPr lang="en-US" sz="10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theme" Target="../theme/theme2.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2" name="Google Shape;10;p2"/>
          <p:cNvCxnSpPr/>
          <p:nvPr/>
        </p:nvCxnSpPr>
        <p:spPr>
          <a:xfrm>
            <a:off x="7007400" y="3176640"/>
            <a:ext cx="563400" cy="1080"/>
          </a:xfrm>
          <a:prstGeom prst="straightConnector1">
            <a:avLst/>
          </a:prstGeom>
          <a:ln w="76200">
            <a:solidFill>
              <a:srgbClr val="B3A77D"/>
            </a:solidFill>
            <a:round/>
          </a:ln>
        </p:spPr>
      </p:cxnSp>
      <p:cxnSp>
        <p:nvCxnSpPr>
          <p:cNvPr id="3" name="Google Shape;11;p2"/>
          <p:cNvCxnSpPr/>
          <p:nvPr/>
        </p:nvCxnSpPr>
        <p:spPr>
          <a:xfrm>
            <a:off x="1575000" y="3157920"/>
            <a:ext cx="563040" cy="1080"/>
          </a:xfrm>
          <a:prstGeom prst="straightConnector1">
            <a:avLst/>
          </a:prstGeom>
          <a:ln w="76200">
            <a:solidFill>
              <a:srgbClr val="B3A77D"/>
            </a:solidFill>
            <a:round/>
          </a:ln>
        </p:spPr>
      </p:cxnSp>
      <p:grpSp>
        <p:nvGrpSpPr>
          <p:cNvPr id="4" name="Google Shape;12;p2"/>
          <p:cNvGrpSpPr/>
          <p:nvPr/>
        </p:nvGrpSpPr>
        <p:grpSpPr>
          <a:xfrm>
            <a:off x="1004040" y="1021680"/>
            <a:ext cx="7137360" cy="153360"/>
            <a:chOff x="1004040" y="1021680"/>
            <a:chExt cx="7137360" cy="153360"/>
          </a:xfrm>
        </p:grpSpPr>
        <p:cxnSp>
          <p:nvCxnSpPr>
            <p:cNvPr id="5" name="Google Shape;13;p2"/>
            <p:cNvCxnSpPr/>
            <p:nvPr/>
          </p:nvCxnSpPr>
          <p:spPr>
            <a:xfrm flipH="1">
              <a:off x="1004040" y="1021680"/>
              <a:ext cx="7137720" cy="1080"/>
            </a:xfrm>
            <a:prstGeom prst="straightConnector1">
              <a:avLst/>
            </a:prstGeom>
            <a:ln w="76200">
              <a:solidFill>
                <a:srgbClr val="4DB6AC"/>
              </a:solidFill>
              <a:round/>
            </a:ln>
          </p:spPr>
        </p:cxnSp>
        <p:cxnSp>
          <p:nvCxnSpPr>
            <p:cNvPr id="6" name="Google Shape;14;p2"/>
            <p:cNvCxnSpPr/>
            <p:nvPr/>
          </p:nvCxnSpPr>
          <p:spPr>
            <a:xfrm flipH="1">
              <a:off x="1004040" y="1174320"/>
              <a:ext cx="7137720" cy="1080"/>
            </a:xfrm>
            <a:prstGeom prst="straightConnector1">
              <a:avLst/>
            </a:prstGeom>
            <a:ln w="9525">
              <a:solidFill>
                <a:srgbClr val="4DB6AC"/>
              </a:solidFill>
              <a:round/>
            </a:ln>
          </p:spPr>
        </p:cxnSp>
      </p:grpSp>
      <p:grpSp>
        <p:nvGrpSpPr>
          <p:cNvPr id="7" name="Google Shape;15;p2"/>
          <p:cNvGrpSpPr/>
          <p:nvPr/>
        </p:nvGrpSpPr>
        <p:grpSpPr>
          <a:xfrm>
            <a:off x="1004040" y="3969000"/>
            <a:ext cx="7137360" cy="153000"/>
            <a:chOff x="1004040" y="3969000"/>
            <a:chExt cx="7137360" cy="153000"/>
          </a:xfrm>
        </p:grpSpPr>
        <p:cxnSp>
          <p:nvCxnSpPr>
            <p:cNvPr id="8" name="Google Shape;16;p2"/>
            <p:cNvCxnSpPr/>
            <p:nvPr/>
          </p:nvCxnSpPr>
          <p:spPr>
            <a:xfrm>
              <a:off x="1004040" y="4121280"/>
              <a:ext cx="7137720" cy="1080"/>
            </a:xfrm>
            <a:prstGeom prst="straightConnector1">
              <a:avLst/>
            </a:prstGeom>
            <a:ln w="76200">
              <a:solidFill>
                <a:srgbClr val="4DB6AC"/>
              </a:solidFill>
              <a:round/>
            </a:ln>
          </p:spPr>
        </p:cxnSp>
        <p:cxnSp>
          <p:nvCxnSpPr>
            <p:cNvPr id="9" name="Google Shape;17;p2"/>
            <p:cNvCxnSpPr/>
            <p:nvPr/>
          </p:nvCxnSpPr>
          <p:spPr>
            <a:xfrm>
              <a:off x="1004040" y="3969000"/>
              <a:ext cx="7137720" cy="1080"/>
            </a:xfrm>
            <a:prstGeom prst="straightConnector1">
              <a:avLst/>
            </a:prstGeom>
            <a:ln w="9525">
              <a:solidFill>
                <a:srgbClr val="4DB6AC"/>
              </a:solidFill>
              <a:round/>
            </a:ln>
          </p:spPr>
        </p:cxnSp>
      </p:grpSp>
      <p:sp>
        <p:nvSpPr>
          <p:cNvPr id="10" name="PlaceHolder 1"/>
          <p:cNvSpPr>
            <a:spLocks noGrp="1"/>
          </p:cNvSpPr>
          <p:nvPr>
            <p:ph type="title"/>
          </p:nvPr>
        </p:nvSpPr>
        <p:spPr>
          <a:xfrm>
            <a:off x="311760" y="660600"/>
            <a:ext cx="8519400" cy="274680"/>
          </a:xfrm>
          <a:prstGeom prst="rect">
            <a:avLst/>
          </a:prstGeom>
          <a:noFill/>
          <a:ln w="0">
            <a:noFill/>
          </a:ln>
        </p:spPr>
        <p:txBody>
          <a:bodyPr lIns="0" tIns="0" rIns="0" bIns="0" anchor="ctr">
            <a:spAutoFit/>
          </a:bodyPr>
          <a:lstStyle/>
          <a:p>
            <a:pPr indent="0">
              <a:buNone/>
            </a:pPr>
            <a:r>
              <a:rPr lang="en-US" sz="1800" b="0" u="none" strike="noStrike">
                <a:solidFill>
                  <a:srgbClr val="000000"/>
                </a:solidFill>
                <a:effectLst/>
                <a:uFillTx/>
                <a:latin typeface="Arial"/>
              </a:rPr>
              <a:t>Click to edit the title text format</a:t>
            </a:r>
          </a:p>
        </p:txBody>
      </p:sp>
      <p:sp>
        <p:nvSpPr>
          <p:cNvPr id="11" name="PlaceHolder 2"/>
          <p:cNvSpPr>
            <a:spLocks noGrp="1"/>
          </p:cNvSpPr>
          <p:nvPr>
            <p:ph type="sldNum" idx="1"/>
          </p:nvPr>
        </p:nvSpPr>
        <p:spPr>
          <a:xfrm>
            <a:off x="8472600" y="4663080"/>
            <a:ext cx="547560" cy="392400"/>
          </a:xfrm>
          <a:prstGeom prst="rect">
            <a:avLst/>
          </a:prstGeom>
          <a:noFill/>
          <a:ln w="0">
            <a:noFill/>
          </a:ln>
        </p:spPr>
        <p:txBody>
          <a:bodyPr lIns="91440" tIns="91440" rIns="91440" bIns="91440" anchor="ctr">
            <a:noAutofit/>
          </a:bodyPr>
          <a:lstStyle>
            <a:lvl1pPr indent="0" algn="r">
              <a:lnSpc>
                <a:spcPct val="100000"/>
              </a:lnSpc>
              <a:buNone/>
              <a:tabLst>
                <a:tab pos="0" algn="l"/>
              </a:tabLst>
              <a:defRPr lang="en-US" sz="1000" b="0" u="none" strike="noStrike">
                <a:solidFill>
                  <a:schemeClr val="dk2"/>
                </a:solidFill>
                <a:effectLst/>
                <a:uFillTx/>
                <a:latin typeface="Open Sans"/>
                <a:ea typeface="Open Sans"/>
              </a:defRPr>
            </a:lvl1pPr>
          </a:lstStyle>
          <a:p>
            <a:pPr indent="0" algn="r">
              <a:lnSpc>
                <a:spcPct val="100000"/>
              </a:lnSpc>
              <a:buNone/>
              <a:tabLst>
                <a:tab pos="0" algn="l"/>
              </a:tabLst>
            </a:pPr>
            <a:fld id="{EB87C9C6-0F44-4CC9-A9CD-D83CE8CAA0DB}" type="slidenum">
              <a:rPr lang="en-US" sz="1000" b="0" u="none" strike="noStrike">
                <a:solidFill>
                  <a:schemeClr val="dk2"/>
                </a:solidFill>
                <a:effectLst/>
                <a:uFillTx/>
                <a:latin typeface="Open Sans"/>
                <a:ea typeface="Open Sans"/>
              </a:rPr>
              <a:t>‹#›</a:t>
            </a:fld>
            <a:endParaRPr lang="en-US" sz="1000" b="0" u="none" strike="noStrike">
              <a:solidFill>
                <a:srgbClr val="000000"/>
              </a:solidFill>
              <a:effectLst/>
              <a:uFillTx/>
              <a:latin typeface="Times New Roman"/>
            </a:endParaRPr>
          </a:p>
        </p:txBody>
      </p:sp>
      <p:sp>
        <p:nvSpPr>
          <p:cNvPr id="12"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p>
        </p:txBody>
      </p:sp>
    </p:spTree>
  </p:cSld>
  <p:clrMap bg1="lt1" tx1="dk1" bg2="dk2" tx2="lt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4.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1004040" y="1751760"/>
            <a:ext cx="7135560" cy="1021320"/>
          </a:xfrm>
          <a:prstGeom prst="rect">
            <a:avLst/>
          </a:prstGeom>
          <a:noFill/>
          <a:ln w="0">
            <a:noFill/>
          </a:ln>
        </p:spPr>
        <p:txBody>
          <a:bodyPr lIns="91440" tIns="91440" rIns="91440" bIns="91440" anchor="b">
            <a:normAutofit fontScale="90000"/>
          </a:bodyPr>
          <a:lstStyle/>
          <a:p>
            <a:pPr indent="0" algn="ctr">
              <a:lnSpc>
                <a:spcPct val="100000"/>
              </a:lnSpc>
              <a:buNone/>
              <a:tabLst>
                <a:tab pos="0" algn="l"/>
              </a:tabLst>
            </a:pPr>
            <a:r>
              <a:rPr lang="en-US" sz="5400" b="1" u="none" strike="noStrike">
                <a:solidFill>
                  <a:schemeClr val="accent1"/>
                </a:solidFill>
                <a:effectLst/>
                <a:uFillTx/>
                <a:latin typeface="PT Sans Narrow"/>
                <a:ea typeface="PT Sans Narrow"/>
              </a:rPr>
              <a:t>Social connections and loneliness</a:t>
            </a:r>
            <a:endParaRPr lang="en-US" sz="5400" b="0" u="none" strike="noStrike">
              <a:solidFill>
                <a:srgbClr val="000000"/>
              </a:solidFill>
              <a:effectLst/>
              <a:uFillTx/>
              <a:latin typeface="Arial"/>
            </a:endParaRPr>
          </a:p>
        </p:txBody>
      </p:sp>
      <p:sp>
        <p:nvSpPr>
          <p:cNvPr id="61" name="PlaceHolder 2"/>
          <p:cNvSpPr>
            <a:spLocks noGrp="1"/>
          </p:cNvSpPr>
          <p:nvPr>
            <p:ph type="subTitle"/>
          </p:nvPr>
        </p:nvSpPr>
        <p:spPr>
          <a:xfrm>
            <a:off x="1859040" y="2918160"/>
            <a:ext cx="5424840" cy="791640"/>
          </a:xfrm>
          <a:prstGeom prst="rect">
            <a:avLst/>
          </a:prstGeom>
          <a:noFill/>
          <a:ln w="0">
            <a:noFill/>
          </a:ln>
        </p:spPr>
        <p:txBody>
          <a:bodyPr lIns="91440" tIns="91440" rIns="91440" bIns="91440" anchor="t">
            <a:normAutofit/>
          </a:bodyPr>
          <a:lstStyle/>
          <a:p>
            <a:pPr indent="0" algn="ctr">
              <a:lnSpc>
                <a:spcPct val="100000"/>
              </a:lnSpc>
              <a:buNone/>
              <a:tabLst>
                <a:tab pos="0" algn="l"/>
              </a:tabLst>
            </a:pPr>
            <a:r>
              <a:rPr lang="en-US" sz="1800" b="0" u="none" strike="noStrike">
                <a:solidFill>
                  <a:schemeClr val="dk2"/>
                </a:solidFill>
                <a:effectLst/>
                <a:uFillTx/>
                <a:latin typeface="Open Sans"/>
                <a:ea typeface="Open Sans"/>
              </a:rPr>
              <a:t>shachar kalderon , Noga eichenbaum</a:t>
            </a:r>
            <a:endParaRPr lang="en-US" sz="1800" b="0" u="none" strike="noStrike">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311760" y="444960"/>
            <a:ext cx="8519400" cy="70632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US" sz="3600" b="1" u="none" strike="noStrike">
                <a:solidFill>
                  <a:schemeClr val="accent1"/>
                </a:solidFill>
                <a:effectLst/>
                <a:uFillTx/>
                <a:latin typeface="PT Sans Narrow"/>
                <a:ea typeface="PT Sans Narrow"/>
              </a:rPr>
              <a:t>Dataset </a:t>
            </a:r>
            <a:endParaRPr lang="en-US" sz="3600" b="0" u="none" strike="noStrike">
              <a:solidFill>
                <a:srgbClr val="000000"/>
              </a:solidFill>
              <a:effectLst/>
              <a:uFillTx/>
              <a:latin typeface="Arial"/>
            </a:endParaRPr>
          </a:p>
        </p:txBody>
      </p:sp>
      <p:sp>
        <p:nvSpPr>
          <p:cNvPr id="63" name="PlaceHolder 2"/>
          <p:cNvSpPr>
            <a:spLocks noGrp="1"/>
          </p:cNvSpPr>
          <p:nvPr>
            <p:ph/>
          </p:nvPr>
        </p:nvSpPr>
        <p:spPr>
          <a:xfrm>
            <a:off x="311760" y="1266480"/>
            <a:ext cx="8519400" cy="3301560"/>
          </a:xfrm>
          <a:prstGeom prst="rect">
            <a:avLst/>
          </a:prstGeom>
          <a:noFill/>
          <a:ln w="0">
            <a:noFill/>
          </a:ln>
        </p:spPr>
        <p:txBody>
          <a:bodyPr lIns="91440" tIns="91440" rIns="91440" bIns="91440" anchor="t">
            <a:normAutofit/>
          </a:bodyPr>
          <a:lstStyle/>
          <a:p>
            <a:pPr indent="0">
              <a:lnSpc>
                <a:spcPct val="115000"/>
              </a:lnSpc>
              <a:buNone/>
              <a:tabLst>
                <a:tab pos="0" algn="l"/>
              </a:tabLst>
            </a:pPr>
            <a:r>
              <a:rPr lang="en-US" sz="2000" b="1" u="none" strike="noStrike" dirty="0">
                <a:solidFill>
                  <a:schemeClr val="dk2"/>
                </a:solidFill>
                <a:effectLst/>
                <a:uFillTx/>
                <a:latin typeface="Open Sans"/>
                <a:ea typeface="Open Sans"/>
              </a:rPr>
              <a:t>We chose ISSP 2017 - Social Networks and Social Resources.</a:t>
            </a:r>
            <a:endParaRPr lang="en-US" sz="2000" b="0" u="none" strike="noStrike" dirty="0">
              <a:solidFill>
                <a:srgbClr val="000000"/>
              </a:solidFill>
              <a:effectLst/>
              <a:uFillTx/>
              <a:latin typeface="Arial"/>
            </a:endParaRPr>
          </a:p>
          <a:p>
            <a:pPr indent="0">
              <a:lnSpc>
                <a:spcPct val="115000"/>
              </a:lnSpc>
              <a:spcBef>
                <a:spcPts val="1199"/>
              </a:spcBef>
              <a:spcAft>
                <a:spcPts val="1199"/>
              </a:spcAft>
              <a:buNone/>
              <a:tabLst>
                <a:tab pos="0" algn="l"/>
              </a:tabLst>
            </a:pPr>
            <a:r>
              <a:rPr lang="en-US" sz="1800" b="0" u="none" strike="noStrike" dirty="0">
                <a:solidFill>
                  <a:schemeClr val="dk2"/>
                </a:solidFill>
                <a:effectLst/>
                <a:uFillTx/>
                <a:latin typeface="Open Sans"/>
                <a:ea typeface="Open Sans"/>
              </a:rPr>
              <a:t>This questionnaire measures social capital via personal networks, social justice attitudes, care responsibilities, help-seeking patterns, trust and loneliness, and civic participation norms. </a:t>
            </a:r>
            <a:endParaRPr lang="en-US" sz="1800" b="0" u="none" strike="noStrike" dirty="0">
              <a:solidFill>
                <a:srgbClr val="000000"/>
              </a:solidFill>
              <a:effectLst/>
              <a:uFillTx/>
              <a:latin typeface="Arial"/>
            </a:endParaRPr>
          </a:p>
          <a:p>
            <a:pPr indent="0">
              <a:lnSpc>
                <a:spcPct val="115000"/>
              </a:lnSpc>
              <a:spcBef>
                <a:spcPts val="1199"/>
              </a:spcBef>
              <a:spcAft>
                <a:spcPts val="1199"/>
              </a:spcAft>
              <a:buNone/>
              <a:tabLst>
                <a:tab pos="0" algn="l"/>
              </a:tabLst>
            </a:pPr>
            <a:r>
              <a:rPr lang="en-US" sz="1800" b="0" u="none" strike="noStrike" dirty="0">
                <a:solidFill>
                  <a:schemeClr val="dk2"/>
                </a:solidFill>
                <a:effectLst/>
                <a:uFillTx/>
                <a:latin typeface="Open Sans"/>
                <a:ea typeface="Open Sans"/>
              </a:rPr>
              <a:t> Following our Preliminary analysis, we continued to focused on questions regarding social habits, connections, and perceived loneliness, depression or isolation.</a:t>
            </a:r>
            <a:br>
              <a:rPr sz="1800" dirty="0"/>
            </a:br>
            <a:endParaRPr lang="en-US" sz="1800" b="0" u="none" strike="noStrike" dirty="0">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311760" y="444960"/>
            <a:ext cx="8519400" cy="70632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US" sz="3600" b="1" u="none" strike="noStrike" dirty="0">
                <a:solidFill>
                  <a:schemeClr val="accent1"/>
                </a:solidFill>
                <a:effectLst/>
                <a:uFillTx/>
                <a:latin typeface="PT Sans Narrow"/>
                <a:ea typeface="PT Sans Narrow"/>
              </a:rPr>
              <a:t>Background</a:t>
            </a:r>
            <a:endParaRPr lang="en-US" sz="3600" b="0" u="none" strike="noStrike" dirty="0">
              <a:solidFill>
                <a:srgbClr val="000000"/>
              </a:solidFill>
              <a:effectLst/>
              <a:uFillTx/>
              <a:latin typeface="Arial"/>
            </a:endParaRPr>
          </a:p>
        </p:txBody>
      </p:sp>
      <p:sp>
        <p:nvSpPr>
          <p:cNvPr id="65" name="PlaceHolder 2"/>
          <p:cNvSpPr>
            <a:spLocks noGrp="1"/>
          </p:cNvSpPr>
          <p:nvPr>
            <p:ph/>
          </p:nvPr>
        </p:nvSpPr>
        <p:spPr>
          <a:xfrm>
            <a:off x="311760" y="1266480"/>
            <a:ext cx="8519400" cy="3301560"/>
          </a:xfrm>
          <a:prstGeom prst="rect">
            <a:avLst/>
          </a:prstGeom>
          <a:noFill/>
          <a:ln w="0">
            <a:noFill/>
          </a:ln>
        </p:spPr>
        <p:txBody>
          <a:bodyPr lIns="91440" tIns="91440" rIns="91440" bIns="91440" anchor="t">
            <a:normAutofit/>
          </a:bodyPr>
          <a:lstStyle/>
          <a:p>
            <a:pPr indent="0">
              <a:lnSpc>
                <a:spcPct val="115000"/>
              </a:lnSpc>
              <a:spcAft>
                <a:spcPts val="1199"/>
              </a:spcAft>
              <a:buNone/>
              <a:tabLst>
                <a:tab pos="0" algn="l"/>
              </a:tabLst>
            </a:pPr>
            <a:r>
              <a:rPr lang="en-US" sz="1800" dirty="0">
                <a:solidFill>
                  <a:schemeClr val="dk2"/>
                </a:solidFill>
                <a:latin typeface="Open Sans"/>
                <a:ea typeface="Open Sans"/>
              </a:rPr>
              <a:t>initially</a:t>
            </a:r>
            <a:r>
              <a:rPr lang="en-US" sz="1800" b="0" u="none" strike="noStrike" dirty="0">
                <a:solidFill>
                  <a:schemeClr val="dk2"/>
                </a:solidFill>
                <a:effectLst/>
                <a:uFillTx/>
                <a:latin typeface="Open Sans"/>
                <a:ea typeface="Open Sans"/>
              </a:rPr>
              <a:t> we decided to explore the relation between how frequently one felt depressed or lonely in the last month (Q28 in the questionnaire) and other variables, such as; the country of origin, age and how often does one talk to family or friends.</a:t>
            </a:r>
            <a:endParaRPr lang="en-US" sz="1800" b="0" u="none" strike="noStrike" dirty="0">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243720" y="220680"/>
            <a:ext cx="8519400" cy="706320"/>
          </a:xfrm>
          <a:prstGeom prst="rect">
            <a:avLst/>
          </a:prstGeom>
          <a:noFill/>
          <a:ln w="0">
            <a:noFill/>
          </a:ln>
        </p:spPr>
        <p:txBody>
          <a:bodyPr lIns="91440" tIns="91440" rIns="91440" bIns="91440" anchor="t">
            <a:normAutofit fontScale="92500"/>
          </a:bodyPr>
          <a:lstStyle/>
          <a:p>
            <a:pPr indent="0">
              <a:lnSpc>
                <a:spcPct val="100000"/>
              </a:lnSpc>
              <a:buNone/>
              <a:tabLst>
                <a:tab pos="0" algn="l"/>
              </a:tabLst>
            </a:pPr>
            <a:r>
              <a:rPr lang="en-US" sz="3600" b="1" u="none" strike="noStrike" dirty="0">
                <a:solidFill>
                  <a:schemeClr val="accent1"/>
                </a:solidFill>
                <a:effectLst/>
                <a:uFillTx/>
                <a:latin typeface="PT Sans Narrow"/>
                <a:ea typeface="PT Sans Narrow"/>
              </a:rPr>
              <a:t> depressed vs. how much you socialize</a:t>
            </a:r>
            <a:endParaRPr lang="en-US" sz="3600" b="0" u="none" strike="noStrike" dirty="0">
              <a:solidFill>
                <a:srgbClr val="000000"/>
              </a:solidFill>
              <a:effectLst/>
              <a:uFillTx/>
              <a:latin typeface="Arial"/>
            </a:endParaRPr>
          </a:p>
        </p:txBody>
      </p:sp>
      <p:sp>
        <p:nvSpPr>
          <p:cNvPr id="73" name="PlaceHolder 2"/>
          <p:cNvSpPr>
            <a:spLocks noGrp="1"/>
          </p:cNvSpPr>
          <p:nvPr>
            <p:ph/>
          </p:nvPr>
        </p:nvSpPr>
        <p:spPr>
          <a:xfrm>
            <a:off x="311760" y="1266480"/>
            <a:ext cx="8519400" cy="3301560"/>
          </a:xfrm>
          <a:prstGeom prst="rect">
            <a:avLst/>
          </a:prstGeom>
          <a:noFill/>
          <a:ln w="0">
            <a:noFill/>
          </a:ln>
        </p:spPr>
        <p:txBody>
          <a:bodyPr lIns="91440" tIns="91440" rIns="91440" bIns="91440" anchor="t">
            <a:normAutofit/>
          </a:bodyPr>
          <a:lstStyle/>
          <a:p>
            <a:pPr>
              <a:lnSpc>
                <a:spcPct val="115000"/>
              </a:lnSpc>
              <a:spcAft>
                <a:spcPts val="1199"/>
              </a:spcAft>
              <a:tabLst>
                <a:tab pos="0" algn="l"/>
              </a:tabLst>
            </a:pPr>
            <a:r>
              <a:rPr lang="en-US" sz="1800" b="0" u="none" strike="noStrike" dirty="0">
                <a:solidFill>
                  <a:schemeClr val="dk2"/>
                </a:solidFill>
                <a:effectLst/>
                <a:uFillTx/>
                <a:latin typeface="Open Sans"/>
                <a:ea typeface="Open Sans"/>
              </a:rPr>
              <a:t>Since we really wanted to see the connection between Q28 (perceived depression ) and how much you socialize with other people</a:t>
            </a:r>
            <a:r>
              <a:rPr lang="en-US" sz="1800" dirty="0">
                <a:solidFill>
                  <a:schemeClr val="dk2"/>
                </a:solidFill>
                <a:latin typeface="Open Sans"/>
                <a:ea typeface="Open Sans"/>
              </a:rPr>
              <a:t>:</a:t>
            </a:r>
            <a:r>
              <a:rPr lang="en-US" sz="1800" b="0" u="none" strike="noStrike" dirty="0">
                <a:solidFill>
                  <a:schemeClr val="dk2"/>
                </a:solidFill>
                <a:effectLst/>
                <a:uFillTx/>
                <a:latin typeface="Open Sans"/>
                <a:ea typeface="Open Sans"/>
              </a:rPr>
              <a:t>  </a:t>
            </a:r>
          </a:p>
          <a:p>
            <a:pPr>
              <a:lnSpc>
                <a:spcPct val="115000"/>
              </a:lnSpc>
              <a:spcAft>
                <a:spcPts val="1199"/>
              </a:spcAft>
              <a:tabLst>
                <a:tab pos="0" algn="l"/>
              </a:tabLst>
            </a:pPr>
            <a:r>
              <a:rPr lang="en-US" sz="1800" b="0" u="none" strike="noStrike" dirty="0">
                <a:solidFill>
                  <a:schemeClr val="dk2"/>
                </a:solidFill>
                <a:effectLst/>
                <a:uFillTx/>
                <a:latin typeface="Open Sans"/>
                <a:ea typeface="Open Sans"/>
              </a:rPr>
              <a:t>Q21 – </a:t>
            </a:r>
            <a:r>
              <a:rPr lang="en-US" sz="1800" dirty="0">
                <a:solidFill>
                  <a:schemeClr val="dk2"/>
                </a:solidFill>
                <a:latin typeface="Open Sans"/>
                <a:ea typeface="Open Sans"/>
              </a:rPr>
              <a:t>frequency of communication with </a:t>
            </a:r>
            <a:r>
              <a:rPr lang="en-US" sz="1800" b="0" u="none" strike="noStrike" dirty="0">
                <a:solidFill>
                  <a:schemeClr val="dk2"/>
                </a:solidFill>
                <a:effectLst/>
                <a:uFillTx/>
                <a:latin typeface="Open Sans"/>
                <a:ea typeface="Open Sans"/>
              </a:rPr>
              <a:t>parents</a:t>
            </a:r>
          </a:p>
          <a:p>
            <a:pPr>
              <a:lnSpc>
                <a:spcPct val="115000"/>
              </a:lnSpc>
              <a:spcAft>
                <a:spcPts val="1199"/>
              </a:spcAft>
              <a:tabLst>
                <a:tab pos="0" algn="l"/>
              </a:tabLst>
            </a:pPr>
            <a:r>
              <a:rPr lang="en-US" sz="1800" b="0" u="none" strike="noStrike" dirty="0">
                <a:solidFill>
                  <a:schemeClr val="dk2"/>
                </a:solidFill>
                <a:effectLst/>
                <a:uFillTx/>
                <a:latin typeface="Open Sans"/>
                <a:ea typeface="Open Sans"/>
              </a:rPr>
              <a:t>Q25 - </a:t>
            </a:r>
            <a:r>
              <a:rPr lang="en-US" sz="1800" dirty="0">
                <a:solidFill>
                  <a:schemeClr val="dk2"/>
                </a:solidFill>
                <a:latin typeface="Open Sans"/>
                <a:ea typeface="Open Sans"/>
              </a:rPr>
              <a:t>frequency of communication with </a:t>
            </a:r>
            <a:r>
              <a:rPr lang="en-US" sz="1800" b="0" u="none" strike="noStrike" dirty="0">
                <a:solidFill>
                  <a:schemeClr val="dk2"/>
                </a:solidFill>
                <a:effectLst/>
                <a:uFillTx/>
                <a:latin typeface="Open Sans"/>
                <a:ea typeface="Open Sans"/>
              </a:rPr>
              <a:t>close friends  </a:t>
            </a:r>
          </a:p>
          <a:p>
            <a:pPr>
              <a:lnSpc>
                <a:spcPct val="115000"/>
              </a:lnSpc>
              <a:spcAft>
                <a:spcPts val="1199"/>
              </a:spcAft>
              <a:tabLst>
                <a:tab pos="0" algn="l"/>
              </a:tabLst>
            </a:pPr>
            <a:r>
              <a:rPr lang="en-US" sz="1800" b="0" u="none" strike="noStrike" dirty="0">
                <a:solidFill>
                  <a:schemeClr val="dk2"/>
                </a:solidFill>
                <a:effectLst/>
                <a:uFillTx/>
                <a:latin typeface="Open Sans"/>
                <a:ea typeface="Open Sans"/>
              </a:rPr>
              <a:t>we decided to check the correlation and distribution by mean for </a:t>
            </a:r>
            <a:r>
              <a:rPr lang="en-US" sz="1800" dirty="0">
                <a:solidFill>
                  <a:schemeClr val="dk2"/>
                </a:solidFill>
                <a:latin typeface="Open Sans"/>
                <a:ea typeface="Open Sans"/>
              </a:rPr>
              <a:t>these questions</a:t>
            </a:r>
            <a:r>
              <a:rPr lang="en-US" sz="1800" b="0" u="none" strike="noStrike" dirty="0">
                <a:solidFill>
                  <a:schemeClr val="dk2"/>
                </a:solidFill>
                <a:effectLst/>
                <a:uFillTx/>
                <a:latin typeface="Open Sans"/>
                <a:ea typeface="Open Sans"/>
              </a:rPr>
              <a:t> in relation to Q28</a:t>
            </a:r>
            <a:r>
              <a:rPr lang="en-US" sz="1800" dirty="0">
                <a:solidFill>
                  <a:schemeClr val="dk2"/>
                </a:solidFill>
                <a:latin typeface="Open Sans"/>
                <a:ea typeface="Open Sans"/>
              </a:rPr>
              <a:t>.</a:t>
            </a:r>
            <a:endParaRPr lang="en-US" sz="1800" b="0" u="none" strike="noStrike" dirty="0">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p:nvPr>
        </p:nvSpPr>
        <p:spPr>
          <a:xfrm>
            <a:off x="311760" y="0"/>
            <a:ext cx="8519400" cy="3301560"/>
          </a:xfrm>
          <a:prstGeom prst="rect">
            <a:avLst/>
          </a:prstGeom>
          <a:noFill/>
          <a:ln w="0">
            <a:noFill/>
          </a:ln>
        </p:spPr>
        <p:txBody>
          <a:bodyPr lIns="91440" tIns="91440" rIns="91440" bIns="91440" anchor="t">
            <a:normAutofit lnSpcReduction="9999"/>
          </a:bodyPr>
          <a:lstStyle/>
          <a:p>
            <a:pPr indent="0">
              <a:lnSpc>
                <a:spcPct val="115000"/>
              </a:lnSpc>
              <a:buNone/>
              <a:tabLst>
                <a:tab pos="0" algn="l"/>
              </a:tabLst>
            </a:pPr>
            <a:r>
              <a:rPr lang="en-US" sz="1800" b="0" u="none" strike="noStrike">
                <a:solidFill>
                  <a:schemeClr val="dk2"/>
                </a:solidFill>
                <a:effectLst/>
                <a:uFillTx/>
                <a:latin typeface="Open Sans"/>
                <a:ea typeface="Open Sans"/>
              </a:rPr>
              <a:t>mapping we used:</a:t>
            </a:r>
            <a:endParaRPr lang="en-US" sz="1800" b="0" u="none" strike="noStrike">
              <a:solidFill>
                <a:srgbClr val="000000"/>
              </a:solidFill>
              <a:effectLst/>
              <a:uFillTx/>
              <a:latin typeface="Arial"/>
            </a:endParaRPr>
          </a:p>
          <a:p>
            <a:pPr indent="0">
              <a:lnSpc>
                <a:spcPct val="115000"/>
              </a:lnSpc>
              <a:spcBef>
                <a:spcPts val="1199"/>
              </a:spcBef>
              <a:buNone/>
              <a:tabLst>
                <a:tab pos="0" algn="l"/>
              </a:tabLst>
            </a:pPr>
            <a:r>
              <a:rPr lang="en-US" sz="1800" b="0" u="none" strike="noStrike">
                <a:solidFill>
                  <a:schemeClr val="dk2"/>
                </a:solidFill>
                <a:effectLst/>
                <a:uFillTx/>
                <a:latin typeface="Open Sans"/>
                <a:ea typeface="Open Sans"/>
              </a:rPr>
              <a:t>Q28                                                    Q21</a:t>
            </a:r>
            <a:endParaRPr lang="en-US" sz="1800" b="0" u="none" strike="noStrike">
              <a:solidFill>
                <a:srgbClr val="000000"/>
              </a:solidFill>
              <a:effectLst/>
              <a:uFillTx/>
              <a:latin typeface="Arial"/>
            </a:endParaRPr>
          </a:p>
          <a:p>
            <a:pPr indent="0">
              <a:lnSpc>
                <a:spcPct val="115000"/>
              </a:lnSpc>
              <a:spcBef>
                <a:spcPts val="1199"/>
              </a:spcBef>
              <a:buNone/>
              <a:tabLst>
                <a:tab pos="0" algn="l"/>
              </a:tabLst>
            </a:pPr>
            <a:endParaRPr lang="en-US" sz="1800" b="0" u="none" strike="noStrike">
              <a:solidFill>
                <a:srgbClr val="000000"/>
              </a:solidFill>
              <a:effectLst/>
              <a:uFillTx/>
              <a:latin typeface="Arial"/>
            </a:endParaRPr>
          </a:p>
          <a:p>
            <a:pPr indent="0">
              <a:lnSpc>
                <a:spcPct val="115000"/>
              </a:lnSpc>
              <a:spcBef>
                <a:spcPts val="1199"/>
              </a:spcBef>
              <a:buNone/>
              <a:tabLst>
                <a:tab pos="0" algn="l"/>
              </a:tabLst>
            </a:pPr>
            <a:endParaRPr lang="en-US" sz="1800" b="0" u="none" strike="noStrike">
              <a:solidFill>
                <a:srgbClr val="000000"/>
              </a:solidFill>
              <a:effectLst/>
              <a:uFillTx/>
              <a:latin typeface="Arial"/>
            </a:endParaRPr>
          </a:p>
          <a:p>
            <a:pPr indent="0">
              <a:lnSpc>
                <a:spcPct val="115000"/>
              </a:lnSpc>
              <a:spcBef>
                <a:spcPts val="1199"/>
              </a:spcBef>
              <a:buNone/>
              <a:tabLst>
                <a:tab pos="0" algn="l"/>
              </a:tabLst>
            </a:pPr>
            <a:endParaRPr lang="en-US" sz="1800" b="0" u="none" strike="noStrike">
              <a:solidFill>
                <a:srgbClr val="000000"/>
              </a:solidFill>
              <a:effectLst/>
              <a:uFillTx/>
              <a:latin typeface="Arial"/>
            </a:endParaRPr>
          </a:p>
          <a:p>
            <a:pPr indent="0">
              <a:lnSpc>
                <a:spcPct val="115000"/>
              </a:lnSpc>
              <a:spcBef>
                <a:spcPts val="1199"/>
              </a:spcBef>
              <a:buNone/>
              <a:tabLst>
                <a:tab pos="0" algn="l"/>
              </a:tabLst>
            </a:pPr>
            <a:endParaRPr lang="en-US" sz="1800" b="0" u="none" strike="noStrike">
              <a:solidFill>
                <a:srgbClr val="000000"/>
              </a:solidFill>
              <a:effectLst/>
              <a:uFillTx/>
              <a:latin typeface="Arial"/>
            </a:endParaRPr>
          </a:p>
          <a:p>
            <a:pPr indent="0">
              <a:lnSpc>
                <a:spcPct val="115000"/>
              </a:lnSpc>
              <a:spcBef>
                <a:spcPts val="1199"/>
              </a:spcBef>
              <a:spcAft>
                <a:spcPts val="1199"/>
              </a:spcAft>
              <a:buNone/>
              <a:tabLst>
                <a:tab pos="0" algn="l"/>
              </a:tabLst>
            </a:pPr>
            <a:r>
              <a:rPr lang="en-US" sz="1800" b="0" u="none" strike="noStrike">
                <a:solidFill>
                  <a:schemeClr val="dk2"/>
                </a:solidFill>
                <a:effectLst/>
                <a:uFillTx/>
                <a:latin typeface="Open Sans"/>
                <a:ea typeface="Open Sans"/>
              </a:rPr>
              <a:t>Q25</a:t>
            </a:r>
            <a:endParaRPr lang="en-US" sz="1800" b="0" u="none" strike="noStrike">
              <a:solidFill>
                <a:srgbClr val="000000"/>
              </a:solidFill>
              <a:effectLst/>
              <a:uFillTx/>
              <a:latin typeface="Arial"/>
            </a:endParaRPr>
          </a:p>
        </p:txBody>
      </p:sp>
      <p:pic>
        <p:nvPicPr>
          <p:cNvPr id="75" name="Google Shape;104;p19"/>
          <p:cNvPicPr/>
          <p:nvPr/>
        </p:nvPicPr>
        <p:blipFill>
          <a:blip r:embed="rId2"/>
          <a:stretch/>
        </p:blipFill>
        <p:spPr>
          <a:xfrm>
            <a:off x="415080" y="936720"/>
            <a:ext cx="3189960" cy="1703880"/>
          </a:xfrm>
          <a:prstGeom prst="rect">
            <a:avLst/>
          </a:prstGeom>
          <a:noFill/>
          <a:ln w="0">
            <a:noFill/>
          </a:ln>
        </p:spPr>
      </p:pic>
      <p:pic>
        <p:nvPicPr>
          <p:cNvPr id="76" name="Google Shape;105;p19"/>
          <p:cNvPicPr/>
          <p:nvPr/>
        </p:nvPicPr>
        <p:blipFill>
          <a:blip r:embed="rId3"/>
          <a:stretch/>
        </p:blipFill>
        <p:spPr>
          <a:xfrm>
            <a:off x="3907080" y="926280"/>
            <a:ext cx="4924080" cy="2181600"/>
          </a:xfrm>
          <a:prstGeom prst="rect">
            <a:avLst/>
          </a:prstGeom>
          <a:noFill/>
          <a:ln w="0">
            <a:noFill/>
          </a:ln>
        </p:spPr>
      </p:pic>
      <p:pic>
        <p:nvPicPr>
          <p:cNvPr id="77" name="Google Shape;106;p19"/>
          <p:cNvPicPr/>
          <p:nvPr/>
        </p:nvPicPr>
        <p:blipFill>
          <a:blip r:embed="rId4"/>
          <a:stretch/>
        </p:blipFill>
        <p:spPr>
          <a:xfrm>
            <a:off x="415080" y="3217320"/>
            <a:ext cx="4097160" cy="175932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PlaceHolder 1"/>
          <p:cNvSpPr>
            <a:spLocks noGrp="1"/>
          </p:cNvSpPr>
          <p:nvPr>
            <p:ph/>
          </p:nvPr>
        </p:nvSpPr>
        <p:spPr>
          <a:xfrm>
            <a:off x="311760" y="-4320"/>
            <a:ext cx="8519400" cy="3301560"/>
          </a:xfrm>
          <a:prstGeom prst="rect">
            <a:avLst/>
          </a:prstGeom>
          <a:noFill/>
          <a:ln w="0">
            <a:noFill/>
          </a:ln>
        </p:spPr>
        <p:txBody>
          <a:bodyPr lIns="91440" tIns="91440" rIns="91440" bIns="91440" anchor="t">
            <a:normAutofit/>
          </a:bodyPr>
          <a:lstStyle/>
          <a:p>
            <a:pPr indent="0">
              <a:lnSpc>
                <a:spcPct val="115000"/>
              </a:lnSpc>
              <a:spcAft>
                <a:spcPts val="1199"/>
              </a:spcAft>
              <a:buNone/>
              <a:tabLst>
                <a:tab pos="0" algn="l"/>
              </a:tabLst>
            </a:pPr>
            <a:r>
              <a:rPr lang="en-US" sz="1800" b="0" u="none" strike="noStrike">
                <a:solidFill>
                  <a:schemeClr val="dk2"/>
                </a:solidFill>
                <a:effectLst/>
                <a:uFillTx/>
                <a:latin typeface="Open Sans"/>
                <a:ea typeface="Open Sans"/>
              </a:rPr>
              <a:t>Results( Q21 to Q28)</a:t>
            </a:r>
            <a:endParaRPr lang="en-US" sz="1800" b="0" u="none" strike="noStrike">
              <a:solidFill>
                <a:srgbClr val="000000"/>
              </a:solidFill>
              <a:effectLst/>
              <a:uFillTx/>
              <a:latin typeface="Arial"/>
            </a:endParaRPr>
          </a:p>
        </p:txBody>
      </p:sp>
      <p:pic>
        <p:nvPicPr>
          <p:cNvPr id="79" name="Google Shape;112;p20"/>
          <p:cNvPicPr/>
          <p:nvPr/>
        </p:nvPicPr>
        <p:blipFill>
          <a:blip r:embed="rId2"/>
          <a:stretch/>
        </p:blipFill>
        <p:spPr>
          <a:xfrm>
            <a:off x="7287480" y="360720"/>
            <a:ext cx="1735560" cy="2986560"/>
          </a:xfrm>
          <a:prstGeom prst="rect">
            <a:avLst/>
          </a:prstGeom>
          <a:noFill/>
          <a:ln w="0">
            <a:noFill/>
          </a:ln>
        </p:spPr>
      </p:pic>
      <p:pic>
        <p:nvPicPr>
          <p:cNvPr id="80" name="Google Shape;113;p20"/>
          <p:cNvPicPr/>
          <p:nvPr/>
        </p:nvPicPr>
        <p:blipFill>
          <a:blip r:embed="rId3"/>
          <a:srcRect l="643" b="2426"/>
          <a:stretch/>
        </p:blipFill>
        <p:spPr>
          <a:xfrm>
            <a:off x="311760" y="453600"/>
            <a:ext cx="6833160" cy="348336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PlaceHolder 1"/>
          <p:cNvSpPr>
            <a:spLocks noGrp="1"/>
          </p:cNvSpPr>
          <p:nvPr>
            <p:ph/>
          </p:nvPr>
        </p:nvSpPr>
        <p:spPr>
          <a:xfrm>
            <a:off x="116087" y="963489"/>
            <a:ext cx="8787960" cy="3216522"/>
          </a:xfrm>
          <a:prstGeom prst="rect">
            <a:avLst/>
          </a:prstGeom>
          <a:noFill/>
          <a:ln w="0">
            <a:noFill/>
          </a:ln>
        </p:spPr>
        <p:txBody>
          <a:bodyPr lIns="91440" tIns="91440" rIns="91440" bIns="91440" anchor="t">
            <a:normAutofit/>
          </a:bodyPr>
          <a:lstStyle/>
          <a:p>
            <a:pPr indent="0">
              <a:lnSpc>
                <a:spcPct val="115000"/>
              </a:lnSpc>
              <a:spcAft>
                <a:spcPts val="1199"/>
              </a:spcAft>
              <a:buNone/>
              <a:tabLst>
                <a:tab pos="0" algn="l"/>
              </a:tabLst>
            </a:pPr>
            <a:r>
              <a:rPr lang="en-US" sz="1800" b="0" u="none" strike="noStrike" dirty="0">
                <a:solidFill>
                  <a:schemeClr val="dk2"/>
                </a:solidFill>
                <a:effectLst/>
                <a:uFillTx/>
                <a:latin typeface="Open Sans"/>
                <a:ea typeface="Open Sans"/>
              </a:rPr>
              <a:t>We ended getting a relatively straight line .</a:t>
            </a:r>
          </a:p>
          <a:p>
            <a:pPr indent="0">
              <a:lnSpc>
                <a:spcPct val="115000"/>
              </a:lnSpc>
              <a:spcAft>
                <a:spcPts val="1199"/>
              </a:spcAft>
              <a:buNone/>
              <a:tabLst>
                <a:tab pos="0" algn="l"/>
              </a:tabLst>
            </a:pPr>
            <a:r>
              <a:rPr lang="en-US" sz="1800" b="0" u="none" strike="noStrike" dirty="0">
                <a:solidFill>
                  <a:schemeClr val="dk2"/>
                </a:solidFill>
                <a:effectLst/>
                <a:uFillTx/>
                <a:latin typeface="Open Sans"/>
                <a:ea typeface="Open Sans"/>
              </a:rPr>
              <a:t>From this we gathered that, most respondents are rarely depressed regardless of how often they talk to their parents aside from a few exceptions. </a:t>
            </a:r>
            <a:endParaRPr lang="en-US" sz="1800" b="0" u="none" strike="noStrike" dirty="0">
              <a:solidFill>
                <a:srgbClr val="000000"/>
              </a:solidFill>
              <a:effectLst/>
              <a:uFillTx/>
              <a:latin typeface="Arial"/>
            </a:endParaRPr>
          </a:p>
          <a:p>
            <a:pPr>
              <a:lnSpc>
                <a:spcPct val="115000"/>
              </a:lnSpc>
              <a:spcAft>
                <a:spcPts val="1199"/>
              </a:spcAft>
              <a:tabLst>
                <a:tab pos="0" algn="l"/>
              </a:tabLst>
            </a:pPr>
            <a:r>
              <a:rPr lang="en-US" sz="1800" dirty="0">
                <a:solidFill>
                  <a:srgbClr val="695D46"/>
                </a:solidFill>
                <a:latin typeface="Open Sans" panose="020B0606030504020204" pitchFamily="34" charset="0"/>
              </a:rPr>
              <a:t>However, we considered that analyzing the relationship by examining the distribution of responses to Q28 based on another parameter, rather than the overall average responses, might provide a more precise measure of the correlation between the questions.</a:t>
            </a:r>
            <a:endParaRPr lang="en-US" sz="1800" b="0" u="none" strike="noStrike" dirty="0">
              <a:solidFill>
                <a:srgbClr val="000000"/>
              </a:solidFill>
              <a:effectLst/>
              <a:uFillTx/>
              <a:latin typeface="Arial"/>
            </a:endParaRPr>
          </a:p>
          <a:p>
            <a:pPr indent="0">
              <a:lnSpc>
                <a:spcPct val="115000"/>
              </a:lnSpc>
              <a:spcAft>
                <a:spcPts val="1199"/>
              </a:spcAft>
              <a:buNone/>
              <a:tabLst>
                <a:tab pos="0" algn="l"/>
              </a:tabLst>
            </a:pPr>
            <a:endParaRPr lang="en-US" sz="1800" b="0" u="none" strike="noStrike" dirty="0">
              <a:solidFill>
                <a:srgbClr val="000000"/>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PlaceHolder 1"/>
          <p:cNvSpPr>
            <a:spLocks noGrp="1"/>
          </p:cNvSpPr>
          <p:nvPr>
            <p:ph/>
          </p:nvPr>
        </p:nvSpPr>
        <p:spPr>
          <a:xfrm>
            <a:off x="395640" y="584280"/>
            <a:ext cx="8519400" cy="33015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1800" b="0" u="none" strike="noStrike" dirty="0">
                <a:solidFill>
                  <a:schemeClr val="dk2"/>
                </a:solidFill>
                <a:effectLst/>
                <a:uFillTx/>
                <a:latin typeface="Open Sans"/>
                <a:ea typeface="Open Sans"/>
              </a:rPr>
              <a:t>So, we looked at the average amount of communication people had with parents or friends, broken down by country, and combined the scatter plots into one graph to see a better comparison.</a:t>
            </a:r>
            <a:endParaRPr lang="en-US" sz="1800" b="0" u="none" strike="noStrike" dirty="0">
              <a:solidFill>
                <a:srgbClr val="000000"/>
              </a:solidFill>
              <a:effectLst/>
              <a:uFillTx/>
              <a:latin typeface="Arial"/>
            </a:endParaRPr>
          </a:p>
          <a:p>
            <a:pPr indent="0">
              <a:lnSpc>
                <a:spcPct val="115000"/>
              </a:lnSpc>
              <a:spcAft>
                <a:spcPts val="1199"/>
              </a:spcAft>
              <a:buNone/>
              <a:tabLst>
                <a:tab pos="0" algn="l"/>
              </a:tabLst>
            </a:pPr>
            <a:r>
              <a:rPr lang="en-US" sz="1500" b="0" u="none" strike="noStrike" dirty="0">
                <a:solidFill>
                  <a:schemeClr val="dk2"/>
                </a:solidFill>
                <a:effectLst/>
                <a:uFillTx/>
                <a:latin typeface="Open Sans"/>
                <a:ea typeface="Open Sans"/>
              </a:rPr>
              <a:t>                                        red - Q25 (friends) vs. blue - Q21(parents)</a:t>
            </a:r>
            <a:endParaRPr lang="en-US" sz="1500" b="0" u="none" strike="noStrike" dirty="0">
              <a:solidFill>
                <a:srgbClr val="000000"/>
              </a:solidFill>
              <a:effectLst/>
              <a:uFillTx/>
              <a:latin typeface="Arial"/>
            </a:endParaRPr>
          </a:p>
        </p:txBody>
      </p:sp>
      <p:pic>
        <p:nvPicPr>
          <p:cNvPr id="83" name="תמונה 2" descr="תמונה שמכילה טקסט, תרשים, עלילה, קו&#10;&#10;תוכן בינה מלאכותית גנרטיבית עשוי להיות שגוי."/>
          <p:cNvPicPr/>
          <p:nvPr/>
        </p:nvPicPr>
        <p:blipFill>
          <a:blip r:embed="rId2"/>
          <a:srcRect t="4814"/>
          <a:stretch/>
        </p:blipFill>
        <p:spPr>
          <a:xfrm>
            <a:off x="1358348" y="1857667"/>
            <a:ext cx="5714640" cy="3139920"/>
          </a:xfrm>
          <a:prstGeom prst="rect">
            <a:avLst/>
          </a:prstGeom>
          <a:noFill/>
          <a:ln w="0">
            <a:noFill/>
          </a:ln>
        </p:spPr>
      </p:pic>
      <p:sp>
        <p:nvSpPr>
          <p:cNvPr id="84" name="PlaceHolder 3"/>
          <p:cNvSpPr/>
          <p:nvPr/>
        </p:nvSpPr>
        <p:spPr>
          <a:xfrm>
            <a:off x="228600" y="0"/>
            <a:ext cx="8519400" cy="70632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normAutofit lnSpcReduction="9999"/>
          </a:bodyPr>
          <a:lstStyle/>
          <a:p>
            <a:pPr>
              <a:lnSpc>
                <a:spcPct val="100000"/>
              </a:lnSpc>
              <a:tabLst>
                <a:tab pos="0" algn="l"/>
              </a:tabLst>
            </a:pPr>
            <a:r>
              <a:rPr lang="en-US" sz="3600" b="1" u="none" strike="noStrike" dirty="0">
                <a:solidFill>
                  <a:schemeClr val="accent1"/>
                </a:solidFill>
                <a:effectLst/>
                <a:uFillTx/>
                <a:latin typeface="PT Sans Narrow"/>
                <a:ea typeface="PT Sans Narrow"/>
              </a:rPr>
              <a:t> Sociability by country</a:t>
            </a:r>
            <a:endParaRPr lang="en-US" sz="3600" b="0" u="none" strike="noStrike" dirty="0">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PlaceHolder 1"/>
          <p:cNvSpPr>
            <a:spLocks noGrp="1"/>
          </p:cNvSpPr>
          <p:nvPr>
            <p:ph/>
          </p:nvPr>
        </p:nvSpPr>
        <p:spPr>
          <a:xfrm>
            <a:off x="311760" y="87120"/>
            <a:ext cx="8519400" cy="4588920"/>
          </a:xfrm>
          <a:prstGeom prst="rect">
            <a:avLst/>
          </a:prstGeom>
          <a:noFill/>
          <a:ln w="0">
            <a:noFill/>
          </a:ln>
        </p:spPr>
        <p:txBody>
          <a:bodyPr lIns="91440" tIns="91440" rIns="91440" bIns="91440" anchor="t">
            <a:normAutofit/>
          </a:bodyPr>
          <a:lstStyle/>
          <a:p>
            <a:pPr indent="0">
              <a:lnSpc>
                <a:spcPct val="115000"/>
              </a:lnSpc>
              <a:spcAft>
                <a:spcPts val="1199"/>
              </a:spcAft>
              <a:buNone/>
              <a:tabLst>
                <a:tab pos="0" algn="l"/>
              </a:tabLst>
            </a:pPr>
            <a:r>
              <a:rPr lang="en-US" sz="1800" b="0" u="none" strike="noStrike" dirty="0">
                <a:solidFill>
                  <a:schemeClr val="dk2"/>
                </a:solidFill>
                <a:effectLst/>
                <a:uFillTx/>
                <a:latin typeface="Open Sans"/>
                <a:ea typeface="Open Sans"/>
              </a:rPr>
              <a:t>As shown in the graph, most countries’ mean for communication with parents is around 0 (between several times a year and once a month) and around 2 (once a week) when it comes to communication with friends.</a:t>
            </a:r>
            <a:endParaRPr lang="en-US" sz="1800" b="0" u="none" strike="noStrike" dirty="0">
              <a:solidFill>
                <a:srgbClr val="000000"/>
              </a:solidFill>
              <a:effectLst/>
              <a:uFillTx/>
              <a:latin typeface="Arial"/>
            </a:endParaRPr>
          </a:p>
          <a:p>
            <a:pPr indent="0">
              <a:lnSpc>
                <a:spcPct val="115000"/>
              </a:lnSpc>
              <a:spcAft>
                <a:spcPts val="1199"/>
              </a:spcAft>
              <a:buNone/>
              <a:tabLst>
                <a:tab pos="0" algn="l"/>
              </a:tabLst>
            </a:pPr>
            <a:r>
              <a:rPr lang="en-US" sz="1800" b="0" u="none" strike="noStrike" dirty="0">
                <a:solidFill>
                  <a:schemeClr val="dk2"/>
                </a:solidFill>
                <a:effectLst/>
                <a:uFillTx/>
                <a:latin typeface="Open Sans"/>
                <a:ea typeface="Open Sans"/>
              </a:rPr>
              <a:t>It seems that except for a few outliers most people </a:t>
            </a:r>
            <a:r>
              <a:rPr lang="en-US" sz="1800" dirty="0">
                <a:solidFill>
                  <a:schemeClr val="dk2"/>
                </a:solidFill>
                <a:latin typeface="Open Sans"/>
                <a:ea typeface="Open Sans"/>
              </a:rPr>
              <a:t>across</a:t>
            </a:r>
            <a:r>
              <a:rPr lang="en-US" sz="1800" b="0" u="none" strike="noStrike" dirty="0">
                <a:solidFill>
                  <a:schemeClr val="dk2"/>
                </a:solidFill>
                <a:effectLst/>
                <a:uFillTx/>
                <a:latin typeface="Open Sans"/>
                <a:ea typeface="Open Sans"/>
              </a:rPr>
              <a:t> various countries engage with their close friends more often than their parents.</a:t>
            </a:r>
            <a:endParaRPr lang="en-US" sz="1800" b="0" u="none" strike="noStrike" dirty="0">
              <a:solidFill>
                <a:srgbClr val="000000"/>
              </a:solidFill>
              <a:effectLst/>
              <a:uFillTx/>
              <a:latin typeface="Arial"/>
            </a:endParaRPr>
          </a:p>
          <a:p>
            <a:pPr indent="0">
              <a:lnSpc>
                <a:spcPct val="115000"/>
              </a:lnSpc>
              <a:spcAft>
                <a:spcPts val="1199"/>
              </a:spcAft>
              <a:buNone/>
              <a:tabLst>
                <a:tab pos="0" algn="l"/>
              </a:tabLst>
            </a:pPr>
            <a:r>
              <a:rPr lang="en-US" sz="1800" dirty="0">
                <a:solidFill>
                  <a:schemeClr val="dk2"/>
                </a:solidFill>
                <a:latin typeface="Open Sans"/>
                <a:ea typeface="Open Sans"/>
              </a:rPr>
              <a:t>Some patterns in </a:t>
            </a:r>
            <a:r>
              <a:rPr lang="en-US" sz="1800" b="0" u="none" strike="noStrike" dirty="0">
                <a:solidFill>
                  <a:schemeClr val="dk2"/>
                </a:solidFill>
                <a:effectLst/>
                <a:uFillTx/>
                <a:latin typeface="Open Sans"/>
                <a:ea typeface="Open Sans"/>
              </a:rPr>
              <a:t>this graph also hint at a possible link between the two.</a:t>
            </a:r>
            <a:endParaRPr lang="en-US" sz="1800" b="0" u="none" strike="noStrike" dirty="0">
              <a:solidFill>
                <a:srgbClr val="000000"/>
              </a:solidFill>
              <a:effectLst/>
              <a:uFillTx/>
              <a:latin typeface="Arial"/>
            </a:endParaRPr>
          </a:p>
          <a:p>
            <a:pPr indent="0">
              <a:lnSpc>
                <a:spcPct val="115000"/>
              </a:lnSpc>
              <a:spcAft>
                <a:spcPts val="1199"/>
              </a:spcAft>
              <a:buNone/>
              <a:tabLst>
                <a:tab pos="0" algn="l"/>
              </a:tabLst>
            </a:pPr>
            <a:r>
              <a:rPr lang="en-US" sz="1800" b="0" u="none" strike="noStrike" dirty="0">
                <a:solidFill>
                  <a:schemeClr val="dk2"/>
                </a:solidFill>
                <a:effectLst/>
                <a:uFillTx/>
                <a:latin typeface="Open Sans"/>
                <a:ea typeface="Open Sans"/>
              </a:rPr>
              <a:t>Based on this, we hypothesized there might be a correlation between the responses to Q21 and Q25 when analyzed by country averages (using the mapped values), rather than by the mean of other question responses as initially done. </a:t>
            </a:r>
          </a:p>
          <a:p>
            <a:pPr indent="0">
              <a:lnSpc>
                <a:spcPct val="115000"/>
              </a:lnSpc>
              <a:spcAft>
                <a:spcPts val="1199"/>
              </a:spcAft>
              <a:buNone/>
              <a:tabLst>
                <a:tab pos="0" algn="l"/>
              </a:tabLst>
            </a:pPr>
            <a:r>
              <a:rPr lang="en-US" sz="1800" b="0" u="none" strike="noStrike" dirty="0">
                <a:solidFill>
                  <a:schemeClr val="dk2"/>
                </a:solidFill>
                <a:effectLst/>
                <a:uFillTx/>
                <a:latin typeface="Open Sans"/>
                <a:ea typeface="Open Sans"/>
              </a:rPr>
              <a:t>Consequently, we decided to pursue this approach next.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p:cNvSpPr>
          <p:nvPr>
            <p:ph/>
          </p:nvPr>
        </p:nvSpPr>
        <p:spPr>
          <a:xfrm>
            <a:off x="250560" y="0"/>
            <a:ext cx="8519400" cy="3301560"/>
          </a:xfrm>
          <a:prstGeom prst="rect">
            <a:avLst/>
          </a:prstGeom>
          <a:noFill/>
          <a:ln w="0">
            <a:noFill/>
          </a:ln>
        </p:spPr>
        <p:txBody>
          <a:bodyPr lIns="91440" tIns="91440" rIns="91440" bIns="91440" anchor="t">
            <a:normAutofit/>
          </a:bodyPr>
          <a:lstStyle/>
          <a:p>
            <a:pPr marL="0" indent="0" algn="l" rtl="0" eaLnBrk="1" latinLnBrk="0" hangingPunct="1">
              <a:lnSpc>
                <a:spcPct val="115000"/>
              </a:lnSpc>
              <a:spcAft>
                <a:spcPts val="1199"/>
              </a:spcAft>
              <a:buNone/>
            </a:pPr>
            <a:r>
              <a:rPr lang="en-US" sz="1800" dirty="0">
                <a:solidFill>
                  <a:srgbClr val="695D46"/>
                </a:solidFill>
                <a:effectLst/>
                <a:latin typeface="Open Sans" panose="020B0606030504020204" pitchFamily="34" charset="0"/>
              </a:rPr>
              <a:t>Here are the results we obtained:</a:t>
            </a:r>
          </a:p>
          <a:p>
            <a:pPr marL="0" indent="0" algn="l" rtl="0" eaLnBrk="1" latinLnBrk="0" hangingPunct="1">
              <a:lnSpc>
                <a:spcPct val="115000"/>
              </a:lnSpc>
              <a:spcAft>
                <a:spcPts val="1199"/>
              </a:spcAft>
              <a:buNone/>
            </a:pPr>
            <a:r>
              <a:rPr lang="en-US" sz="1800" dirty="0">
                <a:solidFill>
                  <a:srgbClr val="695D46"/>
                </a:solidFill>
                <a:effectLst/>
                <a:latin typeface="Open Sans" panose="020B0606030504020204" pitchFamily="34" charset="0"/>
              </a:rPr>
              <a:t>Correlation:</a:t>
            </a:r>
            <a:endParaRPr lang="en-US" sz="1800" b="0" u="none" strike="noStrike" dirty="0">
              <a:solidFill>
                <a:srgbClr val="000000"/>
              </a:solidFill>
              <a:effectLst/>
              <a:uFillTx/>
              <a:latin typeface="Arial"/>
            </a:endParaRPr>
          </a:p>
        </p:txBody>
      </p:sp>
      <p:pic>
        <p:nvPicPr>
          <p:cNvPr id="87" name="Picture 86"/>
          <p:cNvPicPr/>
          <p:nvPr/>
        </p:nvPicPr>
        <p:blipFill>
          <a:blip r:embed="rId2"/>
          <a:stretch/>
        </p:blipFill>
        <p:spPr>
          <a:xfrm>
            <a:off x="124665" y="1023731"/>
            <a:ext cx="6082920" cy="3952800"/>
          </a:xfrm>
          <a:prstGeom prst="rect">
            <a:avLst/>
          </a:prstGeom>
          <a:noFill/>
          <a:ln w="0">
            <a:noFill/>
          </a:ln>
        </p:spPr>
      </p:pic>
      <p:sp>
        <p:nvSpPr>
          <p:cNvPr id="5" name="TextBox 4">
            <a:extLst>
              <a:ext uri="{FF2B5EF4-FFF2-40B4-BE49-F238E27FC236}">
                <a16:creationId xmlns:a16="http://schemas.microsoft.com/office/drawing/2014/main" id="{BFE60EAD-A52A-C791-3B9C-A1177EB41CA0}"/>
              </a:ext>
            </a:extLst>
          </p:cNvPr>
          <p:cNvSpPr txBox="1"/>
          <p:nvPr/>
        </p:nvSpPr>
        <p:spPr>
          <a:xfrm>
            <a:off x="6207585" y="936874"/>
            <a:ext cx="2938520" cy="4275016"/>
          </a:xfrm>
          <a:prstGeom prst="rect">
            <a:avLst/>
          </a:prstGeom>
          <a:noFill/>
        </p:spPr>
        <p:txBody>
          <a:bodyPr wrap="square" rtlCol="1">
            <a:spAutoFit/>
          </a:bodyPr>
          <a:lstStyle/>
          <a:p>
            <a:pPr>
              <a:lnSpc>
                <a:spcPct val="115000"/>
              </a:lnSpc>
              <a:spcAft>
                <a:spcPts val="1199"/>
              </a:spcAft>
            </a:pPr>
            <a:r>
              <a:rPr lang="en-US" sz="1400" dirty="0">
                <a:solidFill>
                  <a:srgbClr val="695D46"/>
                </a:solidFill>
                <a:latin typeface="Open Sans" panose="020B0606030504020204" pitchFamily="34" charset="0"/>
              </a:rPr>
              <a:t>Although no direct correlation is clearly observed, there seems to be a pattern that reinforces our previous conclusion: </a:t>
            </a:r>
          </a:p>
          <a:p>
            <a:pPr>
              <a:lnSpc>
                <a:spcPct val="115000"/>
              </a:lnSpc>
              <a:spcAft>
                <a:spcPts val="1199"/>
              </a:spcAft>
            </a:pPr>
            <a:r>
              <a:rPr lang="en-US" sz="1400" dirty="0">
                <a:solidFill>
                  <a:srgbClr val="695D46"/>
                </a:solidFill>
                <a:latin typeface="Open Sans" panose="020B0606030504020204" pitchFamily="34" charset="0"/>
              </a:rPr>
              <a:t>most individuals interact more frequently with their friends and peers than with their parents.</a:t>
            </a:r>
          </a:p>
          <a:p>
            <a:pPr>
              <a:lnSpc>
                <a:spcPct val="115000"/>
              </a:lnSpc>
              <a:spcAft>
                <a:spcPts val="1199"/>
              </a:spcAft>
            </a:pPr>
            <a:endParaRPr lang="en-US" sz="1000" dirty="0">
              <a:solidFill>
                <a:srgbClr val="695D46"/>
              </a:solidFill>
              <a:latin typeface="Open Sans" panose="020B0606030504020204" pitchFamily="34" charset="0"/>
            </a:endParaRPr>
          </a:p>
          <a:p>
            <a:pPr>
              <a:lnSpc>
                <a:spcPct val="115000"/>
              </a:lnSpc>
              <a:spcAft>
                <a:spcPts val="1199"/>
              </a:spcAft>
            </a:pPr>
            <a:endParaRPr lang="en-US" sz="1000" dirty="0">
              <a:solidFill>
                <a:srgbClr val="695D46"/>
              </a:solidFill>
              <a:latin typeface="Open Sans" panose="020B0606030504020204" pitchFamily="34" charset="0"/>
            </a:endParaRPr>
          </a:p>
          <a:p>
            <a:pPr>
              <a:lnSpc>
                <a:spcPct val="115000"/>
              </a:lnSpc>
              <a:spcAft>
                <a:spcPts val="1199"/>
              </a:spcAft>
            </a:pPr>
            <a:r>
              <a:rPr lang="en-US" sz="1000" dirty="0">
                <a:solidFill>
                  <a:srgbClr val="7FA8D4"/>
                </a:solidFill>
                <a:latin typeface="Open Sans" panose="020B0606030504020204" pitchFamily="34" charset="0"/>
              </a:rPr>
              <a:t>*</a:t>
            </a:r>
            <a:r>
              <a:rPr lang="en-US" sz="1000" dirty="0">
                <a:solidFill>
                  <a:srgbClr val="695D46"/>
                </a:solidFill>
                <a:latin typeface="Open Sans" panose="020B0606030504020204" pitchFamily="34" charset="0"/>
              </a:rPr>
              <a:t> </a:t>
            </a:r>
            <a:r>
              <a:rPr lang="en-US" sz="1000" dirty="0">
                <a:solidFill>
                  <a:srgbClr val="729FCF"/>
                </a:solidFill>
                <a:latin typeface="Open Sans"/>
                <a:ea typeface="Open Sans"/>
              </a:rPr>
              <a:t>both questions values are in the same range according to the mapping hence 1.0 frequency in talking to parents is lower the 2.0 talking to friends</a:t>
            </a:r>
            <a:endParaRPr lang="en-US" sz="1000" dirty="0">
              <a:solidFill>
                <a:srgbClr val="000000"/>
              </a:solidFill>
            </a:endParaRPr>
          </a:p>
          <a:p>
            <a:pPr>
              <a:lnSpc>
                <a:spcPct val="115000"/>
              </a:lnSpc>
              <a:spcAft>
                <a:spcPts val="1199"/>
              </a:spcAft>
            </a:pPr>
            <a:endParaRPr lang="en-US" sz="1400" dirty="0">
              <a:solidFill>
                <a:srgbClr val="695D46"/>
              </a:solidFill>
              <a:latin typeface="Open Sans" panose="020B0606030504020204" pitchFamily="34" charset="0"/>
            </a:endParaRPr>
          </a:p>
          <a:p>
            <a:endParaRPr lang="he-IL"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311760" y="444960"/>
            <a:ext cx="8519400" cy="70632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US" sz="3600" b="1" u="none" strike="noStrike" dirty="0">
                <a:solidFill>
                  <a:schemeClr val="accent1"/>
                </a:solidFill>
                <a:effectLst/>
                <a:uFillTx/>
                <a:latin typeface="PT Sans Narrow"/>
                <a:ea typeface="PT Sans Narrow"/>
              </a:rPr>
              <a:t>depression vs. sociability (by country)</a:t>
            </a:r>
            <a:endParaRPr lang="en-US" sz="3600" b="0" u="none" strike="noStrike" dirty="0">
              <a:solidFill>
                <a:srgbClr val="000000"/>
              </a:solidFill>
              <a:effectLst/>
              <a:uFillTx/>
              <a:latin typeface="Arial"/>
            </a:endParaRPr>
          </a:p>
        </p:txBody>
      </p:sp>
      <p:sp>
        <p:nvSpPr>
          <p:cNvPr id="91" name="PlaceHolder 2"/>
          <p:cNvSpPr>
            <a:spLocks noGrp="1"/>
          </p:cNvSpPr>
          <p:nvPr>
            <p:ph/>
          </p:nvPr>
        </p:nvSpPr>
        <p:spPr>
          <a:xfrm>
            <a:off x="311760" y="1266480"/>
            <a:ext cx="8519400" cy="2847960"/>
          </a:xfrm>
          <a:prstGeom prst="rect">
            <a:avLst/>
          </a:prstGeom>
          <a:noFill/>
          <a:ln w="0">
            <a:noFill/>
          </a:ln>
        </p:spPr>
        <p:txBody>
          <a:bodyPr lIns="91440" tIns="91440" rIns="91440" bIns="91440" anchor="t">
            <a:normAutofit/>
          </a:bodyPr>
          <a:lstStyle/>
          <a:p>
            <a:pPr marL="0" indent="0" algn="l" rtl="0" eaLnBrk="1" latinLnBrk="0" hangingPunct="1">
              <a:lnSpc>
                <a:spcPct val="115000"/>
              </a:lnSpc>
              <a:spcAft>
                <a:spcPts val="1199"/>
              </a:spcAft>
              <a:buNone/>
            </a:pPr>
            <a:r>
              <a:rPr lang="en-US" sz="1800" dirty="0">
                <a:solidFill>
                  <a:srgbClr val="695D46"/>
                </a:solidFill>
                <a:effectLst/>
                <a:latin typeface="Open Sans" panose="020B0606030504020204" pitchFamily="34" charset="0"/>
              </a:rPr>
              <a:t>After identifying a stronger correlation between the questions than in our initial attempt, we chose to apply the country means pairing method to examine the relationship between Q21 and Q25 through Q28 to determine if this approach yields improved results compared to those previously presented.</a:t>
            </a:r>
          </a:p>
          <a:p>
            <a:pPr marL="0" indent="0" algn="l" rtl="0" eaLnBrk="1" latinLnBrk="0" hangingPunct="1">
              <a:lnSpc>
                <a:spcPct val="115000"/>
              </a:lnSpc>
              <a:spcAft>
                <a:spcPts val="1199"/>
              </a:spcAft>
              <a:buNone/>
            </a:pPr>
            <a:r>
              <a:rPr lang="en-US" sz="1800" dirty="0">
                <a:solidFill>
                  <a:srgbClr val="695D46"/>
                </a:solidFill>
                <a:effectLst/>
                <a:latin typeface="Open Sans" panose="020B0606030504020204" pitchFamily="34" charset="0"/>
              </a:rPr>
              <a:t>We computed the average responses for each question by the respondent's country, then paired the results of Q21-Q28 and Q25-Q28, plotting them together on a single scatter graph.</a:t>
            </a:r>
            <a:endParaRPr lang="en-US" sz="1800" b="0" u="none" strike="noStrike" dirty="0">
              <a:solidFill>
                <a:srgbClr val="000000"/>
              </a:solidFill>
              <a:effectLst/>
              <a:uFillTx/>
              <a:latin typeface="Arial"/>
            </a:endParaRPr>
          </a:p>
        </p:txBody>
      </p:sp>
      <p:sp>
        <p:nvSpPr>
          <p:cNvPr id="92" name="Rectangle 91"/>
          <p:cNvSpPr/>
          <p:nvPr/>
        </p:nvSpPr>
        <p:spPr>
          <a:xfrm>
            <a:off x="87469" y="4376101"/>
            <a:ext cx="6400440" cy="64487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0" indent="0" algn="l" rtl="0" eaLnBrk="1" latinLnBrk="0" hangingPunct="1">
              <a:buNone/>
            </a:pPr>
            <a:r>
              <a:rPr lang="en-US" sz="1200" dirty="0">
                <a:solidFill>
                  <a:srgbClr val="729FCF"/>
                </a:solidFill>
                <a:effectLst/>
                <a:latin typeface="Open Sans" panose="020B0606030504020204" pitchFamily="34" charset="0"/>
              </a:rPr>
              <a:t>Q21 - Frequency of communication with your parents</a:t>
            </a:r>
          </a:p>
          <a:p>
            <a:pPr marL="0" indent="0" algn="l" rtl="0" eaLnBrk="1" latinLnBrk="0" hangingPunct="1">
              <a:buNone/>
            </a:pPr>
            <a:r>
              <a:rPr lang="en-US" sz="1200" dirty="0">
                <a:solidFill>
                  <a:srgbClr val="729FCF"/>
                </a:solidFill>
                <a:effectLst/>
                <a:latin typeface="Open Sans" panose="020B0606030504020204" pitchFamily="34" charset="0"/>
              </a:rPr>
              <a:t>Q25 - Frequency of communication with your friends</a:t>
            </a:r>
          </a:p>
          <a:p>
            <a:pPr marL="0" indent="0" algn="l" rtl="0" eaLnBrk="1" latinLnBrk="0" hangingPunct="1">
              <a:buNone/>
            </a:pPr>
            <a:r>
              <a:rPr lang="en-US" sz="1200" dirty="0">
                <a:solidFill>
                  <a:srgbClr val="729FCF"/>
                </a:solidFill>
                <a:effectLst/>
                <a:latin typeface="Open Sans" panose="020B0606030504020204" pitchFamily="34" charset="0"/>
              </a:rPr>
              <a:t>Q28 - Level of depression experienced</a:t>
            </a:r>
            <a:endParaRPr lang="en-US" sz="1200" b="0" u="none" strike="noStrike" dirty="0">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PlaceHolder 1"/>
          <p:cNvSpPr>
            <a:spLocks noGrp="1"/>
          </p:cNvSpPr>
          <p:nvPr>
            <p:ph/>
          </p:nvPr>
        </p:nvSpPr>
        <p:spPr>
          <a:xfrm>
            <a:off x="250560" y="0"/>
            <a:ext cx="8519400" cy="3301560"/>
          </a:xfrm>
          <a:prstGeom prst="rect">
            <a:avLst/>
          </a:prstGeom>
          <a:noFill/>
          <a:ln w="0">
            <a:noFill/>
          </a:ln>
        </p:spPr>
        <p:txBody>
          <a:bodyPr lIns="91440" tIns="91440" rIns="91440" bIns="91440" anchor="t">
            <a:normAutofit/>
          </a:bodyPr>
          <a:lstStyle/>
          <a:p>
            <a:pPr marL="0" indent="0" algn="l" rtl="0" eaLnBrk="1" latinLnBrk="0" hangingPunct="1">
              <a:lnSpc>
                <a:spcPct val="115000"/>
              </a:lnSpc>
              <a:spcAft>
                <a:spcPts val="1199"/>
              </a:spcAft>
              <a:buNone/>
            </a:pPr>
            <a:r>
              <a:rPr lang="en-US" sz="1800" dirty="0">
                <a:solidFill>
                  <a:srgbClr val="695D46"/>
                </a:solidFill>
                <a:effectLst/>
                <a:latin typeface="Open Sans" panose="020B0606030504020204" pitchFamily="34" charset="0"/>
              </a:rPr>
              <a:t>Here is the outcome we obtained:</a:t>
            </a:r>
          </a:p>
          <a:p>
            <a:pPr marL="0" indent="0" algn="l" rtl="0" eaLnBrk="1" latinLnBrk="0" hangingPunct="1">
              <a:lnSpc>
                <a:spcPct val="115000"/>
              </a:lnSpc>
              <a:spcAft>
                <a:spcPts val="1199"/>
              </a:spcAft>
              <a:buNone/>
            </a:pPr>
            <a:r>
              <a:rPr lang="en-US" sz="1800" dirty="0">
                <a:solidFill>
                  <a:srgbClr val="695D46"/>
                </a:solidFill>
                <a:effectLst/>
                <a:latin typeface="Open Sans" panose="020B0606030504020204" pitchFamily="34" charset="0"/>
              </a:rPr>
              <a:t>​</a:t>
            </a:r>
            <a:endParaRPr lang="en-US" sz="1800" b="0" u="none" strike="noStrike" dirty="0">
              <a:solidFill>
                <a:srgbClr val="000000"/>
              </a:solidFill>
              <a:effectLst/>
              <a:uFillTx/>
              <a:latin typeface="Arial"/>
            </a:endParaRPr>
          </a:p>
        </p:txBody>
      </p:sp>
      <p:pic>
        <p:nvPicPr>
          <p:cNvPr id="94" name="Picture 93"/>
          <p:cNvPicPr/>
          <p:nvPr/>
        </p:nvPicPr>
        <p:blipFill>
          <a:blip r:embed="rId2"/>
          <a:stretch/>
        </p:blipFill>
        <p:spPr>
          <a:xfrm>
            <a:off x="374040" y="611433"/>
            <a:ext cx="6411600" cy="4318200"/>
          </a:xfrm>
          <a:prstGeom prst="rect">
            <a:avLst/>
          </a:prstGeom>
          <a:noFill/>
          <a:ln w="0">
            <a:noFill/>
          </a:ln>
        </p:spPr>
      </p:pic>
      <p:sp>
        <p:nvSpPr>
          <p:cNvPr id="2" name="TextBox 1">
            <a:extLst>
              <a:ext uri="{FF2B5EF4-FFF2-40B4-BE49-F238E27FC236}">
                <a16:creationId xmlns:a16="http://schemas.microsoft.com/office/drawing/2014/main" id="{09BD8B6E-CB0D-1B27-8996-7261A28D3CEC}"/>
              </a:ext>
            </a:extLst>
          </p:cNvPr>
          <p:cNvSpPr txBox="1"/>
          <p:nvPr/>
        </p:nvSpPr>
        <p:spPr>
          <a:xfrm>
            <a:off x="6785641" y="3611217"/>
            <a:ext cx="2358359" cy="1384995"/>
          </a:xfrm>
          <a:prstGeom prst="rect">
            <a:avLst/>
          </a:prstGeom>
          <a:noFill/>
        </p:spPr>
        <p:txBody>
          <a:bodyPr wrap="square" rtlCol="1">
            <a:spAutoFit/>
          </a:bodyPr>
          <a:lstStyle/>
          <a:p>
            <a:pPr algn="l" rtl="0" eaLnBrk="1" latinLnBrk="0" hangingPunct="1"/>
            <a:r>
              <a:rPr lang="en-US" sz="1200" dirty="0">
                <a:solidFill>
                  <a:srgbClr val="7FA8D4"/>
                </a:solidFill>
                <a:effectLst/>
                <a:latin typeface="Arial" panose="020B0604020202020204" pitchFamily="34" charset="0"/>
              </a:rPr>
              <a:t>* Each point corresponds to the average value for a given country.</a:t>
            </a:r>
          </a:p>
          <a:p>
            <a:pPr marL="0" indent="-283464" algn="l" rtl="0" eaLnBrk="1" latinLnBrk="0" hangingPunct="1">
              <a:buNone/>
            </a:pPr>
            <a:r>
              <a:rPr lang="en-US" sz="1200" dirty="0">
                <a:solidFill>
                  <a:srgbClr val="7FA8D4"/>
                </a:solidFill>
                <a:effectLst/>
                <a:latin typeface="Arial" panose="020B0604020202020204" pitchFamily="34" charset="0"/>
              </a:rPr>
              <a:t>As a result, each country is represented by two mean values shown as dots on the perceived depression scale.</a:t>
            </a:r>
            <a:endParaRPr lang="he-IL" sz="1200" dirty="0">
              <a:solidFill>
                <a:srgbClr val="7FA8D4"/>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PlaceHolder 1"/>
          <p:cNvSpPr>
            <a:spLocks noGrp="1"/>
          </p:cNvSpPr>
          <p:nvPr>
            <p:ph/>
          </p:nvPr>
        </p:nvSpPr>
        <p:spPr>
          <a:xfrm>
            <a:off x="43200" y="72000"/>
            <a:ext cx="8787960" cy="4943948"/>
          </a:xfrm>
          <a:prstGeom prst="rect">
            <a:avLst/>
          </a:prstGeom>
          <a:noFill/>
          <a:ln w="0">
            <a:noFill/>
          </a:ln>
        </p:spPr>
        <p:txBody>
          <a:bodyPr lIns="91440" tIns="91440" rIns="91440" bIns="91440" anchor="t">
            <a:normAutofit/>
          </a:bodyPr>
          <a:lstStyle/>
          <a:p>
            <a:pPr marL="0" indent="0">
              <a:buNone/>
            </a:pPr>
            <a:r>
              <a:rPr lang="en-US" sz="1800" dirty="0">
                <a:solidFill>
                  <a:srgbClr val="695D46"/>
                </a:solidFill>
                <a:latin typeface="Open Sans" panose="020B0606030504020204" pitchFamily="34" charset="0"/>
                <a:ea typeface="Open Sans" panose="020B0606030504020204" pitchFamily="34" charset="0"/>
                <a:cs typeface="Open Sans" panose="020B0606030504020204" pitchFamily="34" charset="0"/>
              </a:rPr>
              <a:t>The graph demonstrates that the majority of country means fall between -1.6 and -1 regarding depression levels, suggesting that most countries report minimal to no perceived feelings of depression.</a:t>
            </a:r>
          </a:p>
          <a:p>
            <a:pPr marL="0" indent="0">
              <a:buNone/>
            </a:pPr>
            <a:endParaRPr lang="en-US" sz="1800" dirty="0">
              <a:solidFill>
                <a:srgbClr val="695D46"/>
              </a:solidFill>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en-US" sz="1800" dirty="0">
                <a:solidFill>
                  <a:srgbClr val="695D46"/>
                </a:solidFill>
                <a:latin typeface="Open Sans" panose="020B0606030504020204" pitchFamily="34" charset="0"/>
                <a:ea typeface="Open Sans" panose="020B0606030504020204" pitchFamily="34" charset="0"/>
                <a:cs typeface="Open Sans" panose="020B0606030504020204" pitchFamily="34" charset="0"/>
              </a:rPr>
              <a:t>Furthermore, a noticeable distinction exists between the mean frequencies of communication with parents and friends, with individuals tending to communicate more frequently with friends than with parents.</a:t>
            </a:r>
          </a:p>
          <a:p>
            <a:pPr marL="0" indent="0">
              <a:buNone/>
            </a:pPr>
            <a:endParaRPr lang="en-US" sz="1800" dirty="0">
              <a:solidFill>
                <a:srgbClr val="695D46"/>
              </a:solidFill>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en-US" sz="1800" dirty="0">
                <a:solidFill>
                  <a:srgbClr val="695D46"/>
                </a:solidFill>
                <a:latin typeface="Open Sans" panose="020B0606030504020204" pitchFamily="34" charset="0"/>
                <a:ea typeface="Open Sans" panose="020B0606030504020204" pitchFamily="34" charset="0"/>
                <a:cs typeface="Open Sans" panose="020B0606030504020204" pitchFamily="34" charset="0"/>
              </a:rPr>
              <a:t>Based on this observation, we deduced that there may be no definitive correlation between the frequency of social interactions with either family or friends and depression levels across countries.</a:t>
            </a:r>
          </a:p>
          <a:p>
            <a:pPr marL="0" indent="0">
              <a:buNone/>
            </a:pPr>
            <a:endParaRPr lang="en-US" sz="1800" dirty="0">
              <a:solidFill>
                <a:srgbClr val="695D46"/>
              </a:solidFill>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en-US" sz="1800" dirty="0">
                <a:solidFill>
                  <a:srgbClr val="695D46"/>
                </a:solidFill>
                <a:latin typeface="Open Sans" panose="020B0606030504020204" pitchFamily="34" charset="0"/>
                <a:ea typeface="Open Sans" panose="020B0606030504020204" pitchFamily="34" charset="0"/>
                <a:cs typeface="Open Sans" panose="020B0606030504020204" pitchFamily="34" charset="0"/>
              </a:rPr>
              <a:t>Considering these findings align with prior conclusions, we opted to reassess the latest analyses using an alternative parameter.</a:t>
            </a:r>
            <a:endParaRPr lang="en-US" sz="1800" b="0" u="none" strike="noStrike" dirty="0">
              <a:solidFill>
                <a:srgbClr val="695D46"/>
              </a:solidFill>
              <a:effectLst/>
              <a:uFillTx/>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243720" y="220680"/>
            <a:ext cx="8519400" cy="70632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US" sz="3600" b="1" u="none" strike="noStrike" dirty="0">
                <a:solidFill>
                  <a:schemeClr val="accent1"/>
                </a:solidFill>
                <a:effectLst/>
                <a:uFillTx/>
                <a:latin typeface="PT Sans Narrow"/>
                <a:ea typeface="PT Sans Narrow"/>
              </a:rPr>
              <a:t> Third topic - depressed correlation by age</a:t>
            </a:r>
            <a:endParaRPr lang="en-US" sz="3600" b="0" u="none" strike="noStrike" dirty="0">
              <a:solidFill>
                <a:srgbClr val="000000"/>
              </a:solidFill>
              <a:effectLst/>
              <a:uFillTx/>
              <a:latin typeface="Arial"/>
            </a:endParaRPr>
          </a:p>
        </p:txBody>
      </p:sp>
      <p:sp>
        <p:nvSpPr>
          <p:cNvPr id="98" name="PlaceHolder 2"/>
          <p:cNvSpPr>
            <a:spLocks noGrp="1"/>
          </p:cNvSpPr>
          <p:nvPr>
            <p:ph/>
          </p:nvPr>
        </p:nvSpPr>
        <p:spPr>
          <a:xfrm>
            <a:off x="243720" y="927360"/>
            <a:ext cx="8519400" cy="3415680"/>
          </a:xfrm>
          <a:prstGeom prst="rect">
            <a:avLst/>
          </a:prstGeom>
          <a:noFill/>
          <a:ln w="0">
            <a:noFill/>
          </a:ln>
        </p:spPr>
        <p:txBody>
          <a:bodyPr lIns="91440" tIns="91440" rIns="91440" bIns="91440" anchor="t">
            <a:normAutofit/>
          </a:bodyPr>
          <a:lstStyle/>
          <a:p>
            <a:pPr marL="0" indent="0">
              <a:buNone/>
            </a:pPr>
            <a:r>
              <a:rPr lang="en-US" sz="1800" dirty="0">
                <a:solidFill>
                  <a:srgbClr val="695D46"/>
                </a:solidFill>
                <a:latin typeface="Open Sans" panose="020B0606030504020204" pitchFamily="34" charset="0"/>
                <a:ea typeface="Open Sans" panose="020B0606030504020204" pitchFamily="34" charset="0"/>
                <a:cs typeface="Open Sans" panose="020B0606030504020204" pitchFamily="34" charset="0"/>
              </a:rPr>
              <a:t>In addition to country, the questionnaire includes other parameters for classifying respondents, one of which is age.</a:t>
            </a:r>
          </a:p>
          <a:p>
            <a:pPr marL="0" indent="0">
              <a:buNone/>
            </a:pPr>
            <a:endParaRPr lang="en-US" sz="1800" dirty="0">
              <a:solidFill>
                <a:srgbClr val="695D46"/>
              </a:solidFill>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en-US" sz="1800" dirty="0">
                <a:solidFill>
                  <a:srgbClr val="695D46"/>
                </a:solidFill>
                <a:latin typeface="Open Sans" panose="020B0606030504020204" pitchFamily="34" charset="0"/>
                <a:ea typeface="Open Sans" panose="020B0606030504020204" pitchFamily="34" charset="0"/>
                <a:cs typeface="Open Sans" panose="020B0606030504020204" pitchFamily="34" charset="0"/>
              </a:rPr>
              <a:t>Although the questionnaire covers only 30 countries, it includes participants from 88 different age groups. </a:t>
            </a:r>
          </a:p>
          <a:p>
            <a:pPr marL="0" indent="0">
              <a:buNone/>
            </a:pPr>
            <a:r>
              <a:rPr lang="en-US" sz="1800" dirty="0">
                <a:solidFill>
                  <a:srgbClr val="695D46"/>
                </a:solidFill>
                <a:latin typeface="Open Sans" panose="020B0606030504020204" pitchFamily="34" charset="0"/>
                <a:ea typeface="Open Sans" panose="020B0606030504020204" pitchFamily="34" charset="0"/>
                <a:cs typeface="Open Sans" panose="020B0606030504020204" pitchFamily="34" charset="0"/>
              </a:rPr>
              <a:t>Therefore, we considered age as a potentially more significant factor for calculating the mean responses ([1]).</a:t>
            </a:r>
          </a:p>
          <a:p>
            <a:pPr marL="0" indent="0">
              <a:buNone/>
            </a:pPr>
            <a:endParaRPr lang="en-US" sz="1800" dirty="0">
              <a:solidFill>
                <a:srgbClr val="695D46"/>
              </a:solidFill>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en-US" sz="1800" dirty="0">
                <a:solidFill>
                  <a:srgbClr val="695D46"/>
                </a:solidFill>
                <a:latin typeface="Open Sans" panose="020B0606030504020204" pitchFamily="34" charset="0"/>
                <a:ea typeface="Open Sans" panose="020B0606030504020204" pitchFamily="34" charset="0"/>
                <a:cs typeface="Open Sans" panose="020B0606030504020204" pitchFamily="34" charset="0"/>
              </a:rPr>
              <a:t>We chose to re-evaluate earlier questions by computing the average answers for each question based on age rather than country and then comparing the results across age groups.</a:t>
            </a:r>
            <a:endParaRPr lang="en-US" sz="1800" b="0" u="none" strike="noStrike" dirty="0">
              <a:solidFill>
                <a:srgbClr val="695D46"/>
              </a:solidFill>
              <a:effectLst/>
              <a:uFillTx/>
              <a:latin typeface="Open Sans" panose="020B0606030504020204" pitchFamily="34" charset="0"/>
              <a:ea typeface="Open Sans" panose="020B0606030504020204" pitchFamily="34" charset="0"/>
              <a:cs typeface="Open Sans" panose="020B0606030504020204" pitchFamily="34" charset="0"/>
            </a:endParaRPr>
          </a:p>
        </p:txBody>
      </p:sp>
      <p:sp>
        <p:nvSpPr>
          <p:cNvPr id="99" name="Rectangle 98"/>
          <p:cNvSpPr/>
          <p:nvPr/>
        </p:nvSpPr>
        <p:spPr>
          <a:xfrm>
            <a:off x="120960" y="4727520"/>
            <a:ext cx="7194240" cy="1126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200" b="0" u="none" strike="noStrike">
                <a:solidFill>
                  <a:srgbClr val="729FCF"/>
                </a:solidFill>
                <a:effectLst/>
                <a:uFillTx/>
                <a:latin typeface="Open Sans"/>
                <a:ea typeface="Open Sans"/>
              </a:rPr>
              <a:t>[1] -due to a bigger number of point which will bring to a more accurate distribution</a:t>
            </a: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a:p>
            <a:pPr>
              <a:lnSpc>
                <a:spcPct val="100000"/>
              </a:lnSpc>
            </a:pPr>
            <a:endParaRPr lang="en-US" sz="1200" b="0" u="none" strike="noStrike">
              <a:solidFill>
                <a:srgbClr val="000000"/>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PlaceHolder 1"/>
          <p:cNvSpPr>
            <a:spLocks noGrp="1"/>
          </p:cNvSpPr>
          <p:nvPr>
            <p:ph/>
          </p:nvPr>
        </p:nvSpPr>
        <p:spPr>
          <a:xfrm>
            <a:off x="118038" y="144478"/>
            <a:ext cx="8519400" cy="3301560"/>
          </a:xfrm>
          <a:prstGeom prst="rect">
            <a:avLst/>
          </a:prstGeom>
          <a:noFill/>
          <a:ln w="0">
            <a:noFill/>
          </a:ln>
        </p:spPr>
        <p:txBody>
          <a:bodyPr lIns="91440" tIns="91440" rIns="91440" bIns="91440" anchor="t">
            <a:normAutofit/>
          </a:bodyPr>
          <a:lstStyle/>
          <a:p>
            <a:pPr indent="0">
              <a:lnSpc>
                <a:spcPct val="115000"/>
              </a:lnSpc>
              <a:spcAft>
                <a:spcPts val="1199"/>
              </a:spcAft>
              <a:buNone/>
              <a:tabLst>
                <a:tab pos="0" algn="l"/>
              </a:tabLst>
            </a:pPr>
            <a:r>
              <a:rPr lang="en-US" sz="1800" b="0" u="none" strike="noStrike" dirty="0">
                <a:solidFill>
                  <a:schemeClr val="dk2"/>
                </a:solidFill>
                <a:effectLst/>
                <a:uFillTx/>
                <a:latin typeface="Open Sans"/>
                <a:ea typeface="Open Sans"/>
              </a:rPr>
              <a:t>First, we decided to test the age effect on the answer to each question: </a:t>
            </a:r>
            <a:endParaRPr lang="en-US" sz="1800" b="0" u="none" strike="noStrike" dirty="0">
              <a:solidFill>
                <a:srgbClr val="000000"/>
              </a:solidFill>
              <a:effectLst/>
              <a:uFillTx/>
              <a:latin typeface="Arial"/>
            </a:endParaRPr>
          </a:p>
          <a:p>
            <a:pPr indent="0">
              <a:lnSpc>
                <a:spcPct val="115000"/>
              </a:lnSpc>
              <a:spcAft>
                <a:spcPts val="1199"/>
              </a:spcAft>
              <a:buNone/>
              <a:tabLst>
                <a:tab pos="0" algn="l"/>
              </a:tabLst>
            </a:pPr>
            <a:endParaRPr lang="en-US" sz="1800" b="0" u="none" strike="noStrike" dirty="0">
              <a:solidFill>
                <a:srgbClr val="000000"/>
              </a:solidFill>
              <a:effectLst/>
              <a:uFillTx/>
              <a:latin typeface="Arial"/>
            </a:endParaRPr>
          </a:p>
        </p:txBody>
      </p:sp>
      <p:pic>
        <p:nvPicPr>
          <p:cNvPr id="101" name="Picture 100"/>
          <p:cNvPicPr/>
          <p:nvPr/>
        </p:nvPicPr>
        <p:blipFill>
          <a:blip r:embed="rId2"/>
          <a:stretch/>
        </p:blipFill>
        <p:spPr>
          <a:xfrm>
            <a:off x="577534" y="846568"/>
            <a:ext cx="7299360" cy="4159080"/>
          </a:xfrm>
          <a:prstGeom prst="rect">
            <a:avLst/>
          </a:prstGeom>
          <a:noFill/>
          <a:ln w="0">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PlaceHolder 1"/>
          <p:cNvSpPr>
            <a:spLocks noGrp="1"/>
          </p:cNvSpPr>
          <p:nvPr>
            <p:ph/>
          </p:nvPr>
        </p:nvSpPr>
        <p:spPr>
          <a:xfrm>
            <a:off x="178020" y="357692"/>
            <a:ext cx="8787960" cy="4428115"/>
          </a:xfrm>
          <a:prstGeom prst="rect">
            <a:avLst/>
          </a:prstGeom>
          <a:noFill/>
          <a:ln w="0">
            <a:noFill/>
          </a:ln>
        </p:spPr>
        <p:txBody>
          <a:bodyPr lIns="91440" tIns="91440" rIns="91440" bIns="91440" anchor="t">
            <a:normAutofit/>
          </a:bodyPr>
          <a:lstStyle/>
          <a:p>
            <a:pPr marL="0" indent="0" algn="l" rtl="0" eaLnBrk="1" latinLnBrk="0" hangingPunct="1">
              <a:lnSpc>
                <a:spcPct val="115000"/>
              </a:lnSpc>
              <a:spcAft>
                <a:spcPts val="1199"/>
              </a:spcAft>
              <a:buNone/>
            </a:pPr>
            <a:r>
              <a:rPr lang="en-US" sz="1800" dirty="0">
                <a:solidFill>
                  <a:srgbClr val="695D46"/>
                </a:solidFill>
                <a:effectLst/>
                <a:latin typeface="Open Sans" panose="020B0606030504020204" pitchFamily="34" charset="0"/>
              </a:rPr>
              <a:t>The graph illustrates that as age increases, communication with friends decreases, and communication with family declines even more sharply, while levels of depression remain relatively constant (hinting at a finding we will discuss later).</a:t>
            </a:r>
          </a:p>
          <a:p>
            <a:pPr marL="0" indent="0" algn="l" rtl="0" eaLnBrk="1" latinLnBrk="0" hangingPunct="1">
              <a:lnSpc>
                <a:spcPct val="115000"/>
              </a:lnSpc>
              <a:spcAft>
                <a:spcPts val="1199"/>
              </a:spcAft>
              <a:buNone/>
            </a:pPr>
            <a:r>
              <a:rPr lang="en-US" sz="1800" dirty="0">
                <a:solidFill>
                  <a:srgbClr val="695D46"/>
                </a:solidFill>
                <a:effectLst/>
                <a:latin typeface="Open Sans" panose="020B0606030504020204" pitchFamily="34" charset="0"/>
              </a:rPr>
              <a:t>Subsequently, we examined the correlation between the frequency of communication with friends and with parents, applying the age group categorization. As well as applying a polynomial regression given the shape of graph we obtained.</a:t>
            </a:r>
            <a:endParaRPr lang="en-US" sz="1800" b="0" u="none" strike="noStrike" dirty="0">
              <a:solidFill>
                <a:srgbClr val="000000"/>
              </a:solidFill>
              <a:effectLst/>
              <a:uFillTx/>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PlaceHolder 1"/>
          <p:cNvSpPr>
            <a:spLocks noGrp="1"/>
          </p:cNvSpPr>
          <p:nvPr>
            <p:ph/>
          </p:nvPr>
        </p:nvSpPr>
        <p:spPr>
          <a:xfrm>
            <a:off x="250560" y="0"/>
            <a:ext cx="8519400" cy="3301560"/>
          </a:xfrm>
          <a:prstGeom prst="rect">
            <a:avLst/>
          </a:prstGeom>
          <a:noFill/>
          <a:ln w="0">
            <a:noFill/>
          </a:ln>
        </p:spPr>
        <p:txBody>
          <a:bodyPr lIns="91440" tIns="91440" rIns="91440" bIns="91440" anchor="t">
            <a:normAutofit/>
          </a:bodyPr>
          <a:lstStyle/>
          <a:p>
            <a:pPr indent="0">
              <a:lnSpc>
                <a:spcPct val="115000"/>
              </a:lnSpc>
              <a:spcAft>
                <a:spcPts val="1199"/>
              </a:spcAft>
              <a:buNone/>
              <a:tabLst>
                <a:tab pos="0" algn="l"/>
              </a:tabLst>
            </a:pPr>
            <a:r>
              <a:rPr lang="en-US" sz="1800" b="0" u="none" strike="noStrike">
                <a:solidFill>
                  <a:schemeClr val="dk2"/>
                </a:solidFill>
                <a:effectLst/>
                <a:uFillTx/>
                <a:latin typeface="Open Sans"/>
                <a:ea typeface="Open Sans"/>
              </a:rPr>
              <a:t>And this is the result we got: </a:t>
            </a:r>
            <a:endParaRPr lang="en-US" sz="1800" b="0" u="none" strike="noStrike">
              <a:solidFill>
                <a:srgbClr val="000000"/>
              </a:solidFill>
              <a:effectLst/>
              <a:uFillTx/>
              <a:latin typeface="Arial"/>
            </a:endParaRPr>
          </a:p>
          <a:p>
            <a:pPr indent="0">
              <a:lnSpc>
                <a:spcPct val="115000"/>
              </a:lnSpc>
              <a:spcAft>
                <a:spcPts val="1199"/>
              </a:spcAft>
              <a:buNone/>
              <a:tabLst>
                <a:tab pos="0" algn="l"/>
              </a:tabLst>
            </a:pPr>
            <a:endParaRPr lang="en-US" sz="1800" b="0" u="none" strike="noStrike">
              <a:solidFill>
                <a:srgbClr val="000000"/>
              </a:solidFill>
              <a:effectLst/>
              <a:uFillTx/>
              <a:latin typeface="Arial"/>
            </a:endParaRPr>
          </a:p>
        </p:txBody>
      </p:sp>
      <p:pic>
        <p:nvPicPr>
          <p:cNvPr id="104" name="Picture 103"/>
          <p:cNvPicPr/>
          <p:nvPr/>
        </p:nvPicPr>
        <p:blipFill>
          <a:blip r:embed="rId2"/>
          <a:stretch/>
        </p:blipFill>
        <p:spPr>
          <a:xfrm>
            <a:off x="0" y="1053549"/>
            <a:ext cx="5923722" cy="3902764"/>
          </a:xfrm>
          <a:prstGeom prst="rect">
            <a:avLst/>
          </a:prstGeom>
          <a:noFill/>
          <a:ln w="0">
            <a:noFill/>
          </a:ln>
        </p:spPr>
      </p:pic>
      <p:pic>
        <p:nvPicPr>
          <p:cNvPr id="105" name="Picture 104"/>
          <p:cNvPicPr/>
          <p:nvPr/>
        </p:nvPicPr>
        <p:blipFill>
          <a:blip r:embed="rId3"/>
          <a:stretch/>
        </p:blipFill>
        <p:spPr>
          <a:xfrm>
            <a:off x="5923722" y="1053549"/>
            <a:ext cx="3220278" cy="2948608"/>
          </a:xfrm>
          <a:prstGeom prst="rect">
            <a:avLst/>
          </a:prstGeom>
          <a:noFill/>
          <a:ln w="0">
            <a:noFill/>
          </a:ln>
        </p:spPr>
      </p:pic>
      <p:sp>
        <p:nvSpPr>
          <p:cNvPr id="106" name="PlaceHolder 4"/>
          <p:cNvSpPr txBox="1"/>
          <p:nvPr/>
        </p:nvSpPr>
        <p:spPr>
          <a:xfrm>
            <a:off x="6431651" y="669938"/>
            <a:ext cx="3178080" cy="568440"/>
          </a:xfrm>
          <a:prstGeom prst="rect">
            <a:avLst/>
          </a:prstGeom>
          <a:noFill/>
          <a:ln w="0">
            <a:noFill/>
          </a:ln>
        </p:spPr>
        <p:txBody>
          <a:bodyPr tIns="91440" bIns="91440" anchor="t">
            <a:normAutofit fontScale="85000" lnSpcReduction="19999"/>
          </a:bodyPr>
          <a:lstStyle/>
          <a:p>
            <a:pPr>
              <a:lnSpc>
                <a:spcPct val="115000"/>
              </a:lnSpc>
              <a:spcAft>
                <a:spcPts val="1199"/>
              </a:spcAft>
              <a:tabLst>
                <a:tab pos="0" algn="l"/>
              </a:tabLst>
            </a:pPr>
            <a:r>
              <a:rPr lang="en-US" sz="1800" b="0" u="none" strike="noStrike" dirty="0">
                <a:solidFill>
                  <a:schemeClr val="dk2"/>
                </a:solidFill>
                <a:effectLst/>
                <a:uFillTx/>
                <a:latin typeface="Open Sans"/>
                <a:ea typeface="Open Sans"/>
              </a:rPr>
              <a:t>Polynomial regression</a:t>
            </a:r>
            <a:endParaRPr lang="en-US" sz="1800" b="0" u="none" strike="noStrike" dirty="0">
              <a:solidFill>
                <a:srgbClr val="000000"/>
              </a:solidFill>
              <a:effectLst/>
              <a:uFillTx/>
              <a:latin typeface="Arial"/>
            </a:endParaRPr>
          </a:p>
          <a:p>
            <a:pPr>
              <a:lnSpc>
                <a:spcPct val="115000"/>
              </a:lnSpc>
              <a:spcAft>
                <a:spcPts val="1199"/>
              </a:spcAft>
              <a:tabLst>
                <a:tab pos="0" algn="l"/>
              </a:tabLst>
            </a:pPr>
            <a:endParaRPr lang="en-US" sz="1800" b="0" u="none" strike="noStrike" dirty="0">
              <a:solidFill>
                <a:srgbClr val="000000"/>
              </a:solidFill>
              <a:effectLst/>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PlaceHolder 1"/>
          <p:cNvSpPr>
            <a:spLocks noGrp="1"/>
          </p:cNvSpPr>
          <p:nvPr>
            <p:ph/>
          </p:nvPr>
        </p:nvSpPr>
        <p:spPr>
          <a:xfrm>
            <a:off x="56452" y="258416"/>
            <a:ext cx="8787960" cy="3425687"/>
          </a:xfrm>
          <a:prstGeom prst="rect">
            <a:avLst/>
          </a:prstGeom>
          <a:noFill/>
          <a:ln w="0">
            <a:noFill/>
          </a:ln>
        </p:spPr>
        <p:txBody>
          <a:bodyPr lIns="91440" tIns="91440" rIns="91440" bIns="91440" anchor="t">
            <a:noAutofit/>
          </a:bodyPr>
          <a:lstStyle/>
          <a:p>
            <a:pPr marL="0" indent="0">
              <a:buNone/>
            </a:pPr>
            <a:r>
              <a:rPr lang="en-US" sz="1800" dirty="0">
                <a:solidFill>
                  <a:srgbClr val="695D46"/>
                </a:solidFill>
                <a:latin typeface="Open Sans" panose="020B0606030504020204" pitchFamily="34" charset="0"/>
                <a:ea typeface="Open Sans" panose="020B0606030504020204" pitchFamily="34" charset="0"/>
                <a:cs typeface="Open Sans" panose="020B0606030504020204" pitchFamily="34" charset="0"/>
              </a:rPr>
              <a:t>This time, there is a clear correlation between the frequency of conversations with friends and family. </a:t>
            </a:r>
          </a:p>
          <a:p>
            <a:pPr marL="0" indent="0">
              <a:buNone/>
            </a:pPr>
            <a:r>
              <a:rPr lang="en-US" sz="1800" dirty="0">
                <a:solidFill>
                  <a:srgbClr val="695D46"/>
                </a:solidFill>
                <a:latin typeface="Open Sans" panose="020B0606030504020204" pitchFamily="34" charset="0"/>
                <a:ea typeface="Open Sans" panose="020B0606030504020204" pitchFamily="34" charset="0"/>
                <a:cs typeface="Open Sans" panose="020B0606030504020204" pitchFamily="34" charset="0"/>
              </a:rPr>
              <a:t>It appears that increased communication with family corresponds with more frequent interactions with friends, which contrasts with previous findings.</a:t>
            </a:r>
          </a:p>
          <a:p>
            <a:pPr marL="0" indent="0">
              <a:buNone/>
            </a:pPr>
            <a:endParaRPr lang="en-US" sz="1800" dirty="0">
              <a:solidFill>
                <a:srgbClr val="695D46"/>
              </a:solidFill>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en-US" sz="1800" dirty="0">
                <a:solidFill>
                  <a:srgbClr val="695D46"/>
                </a:solidFill>
                <a:latin typeface="Open Sans" panose="020B0606030504020204" pitchFamily="34" charset="0"/>
                <a:ea typeface="Open Sans" panose="020B0606030504020204" pitchFamily="34" charset="0"/>
                <a:cs typeface="Open Sans" panose="020B0606030504020204" pitchFamily="34" charset="0"/>
              </a:rPr>
              <a:t>The dot size in the graph represents the age group used to pair responses from the two questions.</a:t>
            </a:r>
          </a:p>
          <a:p>
            <a:pPr marL="0" indent="0">
              <a:buNone/>
            </a:pPr>
            <a:r>
              <a:rPr lang="en-US" sz="1800" dirty="0">
                <a:solidFill>
                  <a:srgbClr val="695D46"/>
                </a:solidFill>
                <a:latin typeface="Open Sans" panose="020B0606030504020204" pitchFamily="34" charset="0"/>
                <a:ea typeface="Open Sans" panose="020B0606030504020204" pitchFamily="34" charset="0"/>
                <a:cs typeface="Open Sans" panose="020B0606030504020204" pitchFamily="34" charset="0"/>
              </a:rPr>
              <a:t>This allows us to observe that most age groups ([1]) closely follow this trend, while the older age groups ([2]) serve as outliers.</a:t>
            </a:r>
            <a:endParaRPr lang="en-US" sz="1800" b="0" u="none" strike="noStrike" dirty="0">
              <a:solidFill>
                <a:srgbClr val="695D46"/>
              </a:solidFill>
              <a:effectLst/>
              <a:uFillTx/>
              <a:latin typeface="Open Sans" panose="020B0606030504020204" pitchFamily="34" charset="0"/>
              <a:ea typeface="Open Sans" panose="020B0606030504020204" pitchFamily="34" charset="0"/>
              <a:cs typeface="Open Sans" panose="020B0606030504020204" pitchFamily="34" charset="0"/>
            </a:endParaRPr>
          </a:p>
        </p:txBody>
      </p:sp>
      <p:sp>
        <p:nvSpPr>
          <p:cNvPr id="108" name="Rectangle 107"/>
          <p:cNvSpPr/>
          <p:nvPr/>
        </p:nvSpPr>
        <p:spPr>
          <a:xfrm>
            <a:off x="120600" y="4475160"/>
            <a:ext cx="7194240" cy="64487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200" b="0" u="none" strike="noStrike" dirty="0">
                <a:solidFill>
                  <a:srgbClr val="729FCF"/>
                </a:solidFill>
                <a:effectLst/>
                <a:uFillTx/>
                <a:latin typeface="Open Sans"/>
                <a:ea typeface="Open Sans"/>
              </a:rPr>
              <a:t>[1] -15-89 , 15 is the min age for this graph</a:t>
            </a:r>
            <a:endParaRPr lang="en-US" sz="1200" b="0" u="none" strike="noStrike" dirty="0">
              <a:solidFill>
                <a:srgbClr val="000000"/>
              </a:solidFill>
              <a:effectLst/>
              <a:uFillTx/>
              <a:latin typeface="Arial"/>
            </a:endParaRPr>
          </a:p>
          <a:p>
            <a:pPr>
              <a:lnSpc>
                <a:spcPct val="100000"/>
              </a:lnSpc>
            </a:pPr>
            <a:r>
              <a:rPr lang="en-US" sz="1200" b="0" u="none" strike="noStrike" dirty="0">
                <a:solidFill>
                  <a:srgbClr val="729FCF"/>
                </a:solidFill>
                <a:effectLst/>
                <a:uFillTx/>
                <a:latin typeface="Open Sans"/>
                <a:ea typeface="Open Sans"/>
              </a:rPr>
              <a:t>[2] </a:t>
            </a:r>
            <a:r>
              <a:rPr lang="en-US" sz="1200" dirty="0">
                <a:solidFill>
                  <a:srgbClr val="729FCF"/>
                </a:solidFill>
                <a:latin typeface="Open Sans"/>
                <a:ea typeface="Open Sans"/>
              </a:rPr>
              <a:t> </a:t>
            </a:r>
            <a:r>
              <a:rPr lang="en-US" sz="1200" b="0" u="none" strike="noStrike" dirty="0">
                <a:solidFill>
                  <a:srgbClr val="729FCF"/>
                </a:solidFill>
                <a:effectLst/>
                <a:uFillTx/>
                <a:latin typeface="Open Sans"/>
                <a:ea typeface="Open Sans"/>
              </a:rPr>
              <a:t>90-103 , 103 is the max age for this graph</a:t>
            </a:r>
            <a:endParaRPr lang="en-US" sz="1200" b="0" u="none" strike="noStrike" dirty="0">
              <a:solidFill>
                <a:srgbClr val="000000"/>
              </a:solidFill>
              <a:effectLst/>
              <a:uFillTx/>
              <a:latin typeface="Arial"/>
            </a:endParaRPr>
          </a:p>
          <a:p>
            <a:pPr>
              <a:lnSpc>
                <a:spcPct val="100000"/>
              </a:lnSpc>
            </a:pPr>
            <a:endParaRPr lang="en-US" sz="1200" b="0" u="none" strike="noStrike" dirty="0">
              <a:solidFill>
                <a:srgbClr val="000000"/>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PlaceHolder 1"/>
          <p:cNvSpPr>
            <a:spLocks noGrp="1"/>
          </p:cNvSpPr>
          <p:nvPr>
            <p:ph/>
          </p:nvPr>
        </p:nvSpPr>
        <p:spPr>
          <a:xfrm>
            <a:off x="43200" y="0"/>
            <a:ext cx="8787960" cy="4978080"/>
          </a:xfrm>
          <a:prstGeom prst="rect">
            <a:avLst/>
          </a:prstGeom>
          <a:noFill/>
          <a:ln w="0">
            <a:noFill/>
          </a:ln>
        </p:spPr>
        <p:txBody>
          <a:bodyPr lIns="91440" tIns="91440" rIns="91440" bIns="91440" anchor="t">
            <a:normAutofit/>
          </a:bodyPr>
          <a:lstStyle/>
          <a:p>
            <a:pPr indent="0">
              <a:lnSpc>
                <a:spcPct val="115000"/>
              </a:lnSpc>
              <a:spcAft>
                <a:spcPts val="1199"/>
              </a:spcAft>
              <a:buNone/>
              <a:tabLst>
                <a:tab pos="0" algn="l"/>
              </a:tabLst>
            </a:pPr>
            <a:r>
              <a:rPr lang="en-US" sz="1600" b="0" u="none" strike="noStrike" dirty="0">
                <a:solidFill>
                  <a:schemeClr val="dk2"/>
                </a:solidFill>
                <a:effectLst/>
                <a:uFillTx/>
                <a:latin typeface="Open Sans"/>
                <a:ea typeface="Open Sans"/>
              </a:rPr>
              <a:t>Since we got a clear correlation in the two different analyses we did with age, we decided to test the connection of how often you talk to family/friends to how depressed you are, using the same age grouping method.</a:t>
            </a:r>
            <a:endParaRPr lang="en-US" sz="1600" b="0" u="none" strike="noStrike" dirty="0">
              <a:solidFill>
                <a:srgbClr val="000000"/>
              </a:solidFill>
              <a:effectLst/>
              <a:uFillTx/>
              <a:latin typeface="Arial"/>
            </a:endParaRPr>
          </a:p>
          <a:p>
            <a:pPr indent="0">
              <a:lnSpc>
                <a:spcPct val="115000"/>
              </a:lnSpc>
              <a:spcAft>
                <a:spcPts val="1199"/>
              </a:spcAft>
              <a:buNone/>
              <a:tabLst>
                <a:tab pos="0" algn="l"/>
              </a:tabLst>
            </a:pPr>
            <a:r>
              <a:rPr lang="en-US" sz="1600" b="0" u="none" strike="noStrike" dirty="0">
                <a:solidFill>
                  <a:schemeClr val="dk2"/>
                </a:solidFill>
                <a:effectLst/>
                <a:uFillTx/>
                <a:latin typeface="Open Sans"/>
                <a:ea typeface="Open Sans"/>
              </a:rPr>
              <a:t>This is the result:</a:t>
            </a:r>
            <a:endParaRPr lang="en-US" sz="1600" b="0" u="none" strike="noStrike" dirty="0">
              <a:solidFill>
                <a:srgbClr val="000000"/>
              </a:solidFill>
              <a:effectLst/>
              <a:uFillTx/>
              <a:latin typeface="Arial"/>
            </a:endParaRPr>
          </a:p>
          <a:p>
            <a:pPr indent="0">
              <a:lnSpc>
                <a:spcPct val="115000"/>
              </a:lnSpc>
              <a:spcAft>
                <a:spcPts val="1199"/>
              </a:spcAft>
              <a:buNone/>
              <a:tabLst>
                <a:tab pos="0" algn="l"/>
              </a:tabLst>
            </a:pPr>
            <a:endParaRPr lang="en-US" sz="1800" b="0" u="none" strike="noStrike" dirty="0">
              <a:solidFill>
                <a:srgbClr val="000000"/>
              </a:solidFill>
              <a:effectLst/>
              <a:uFillTx/>
              <a:latin typeface="Arial"/>
            </a:endParaRPr>
          </a:p>
          <a:p>
            <a:pPr indent="0">
              <a:lnSpc>
                <a:spcPct val="115000"/>
              </a:lnSpc>
              <a:spcAft>
                <a:spcPts val="1199"/>
              </a:spcAft>
              <a:buNone/>
              <a:tabLst>
                <a:tab pos="0" algn="l"/>
              </a:tabLst>
            </a:pPr>
            <a:endParaRPr lang="en-US" sz="1800" b="0" u="none" strike="noStrike" dirty="0">
              <a:solidFill>
                <a:srgbClr val="000000"/>
              </a:solidFill>
              <a:effectLst/>
              <a:uFillTx/>
              <a:latin typeface="Arial"/>
            </a:endParaRPr>
          </a:p>
        </p:txBody>
      </p:sp>
      <p:pic>
        <p:nvPicPr>
          <p:cNvPr id="110" name="Picture 109"/>
          <p:cNvPicPr/>
          <p:nvPr/>
        </p:nvPicPr>
        <p:blipFill>
          <a:blip r:embed="rId2"/>
          <a:stretch/>
        </p:blipFill>
        <p:spPr>
          <a:xfrm>
            <a:off x="1143000" y="1371600"/>
            <a:ext cx="5320800" cy="3616560"/>
          </a:xfrm>
          <a:prstGeom prst="rect">
            <a:avLst/>
          </a:prstGeom>
          <a:noFill/>
          <a:ln w="0">
            <a:noFill/>
          </a:ln>
        </p:spPr>
      </p:pic>
      <p:sp>
        <p:nvSpPr>
          <p:cNvPr id="2" name="TextBox 1">
            <a:extLst>
              <a:ext uri="{FF2B5EF4-FFF2-40B4-BE49-F238E27FC236}">
                <a16:creationId xmlns:a16="http://schemas.microsoft.com/office/drawing/2014/main" id="{B56A008F-91F4-2D1A-755B-0E4BB8435491}"/>
              </a:ext>
            </a:extLst>
          </p:cNvPr>
          <p:cNvSpPr txBox="1"/>
          <p:nvPr/>
        </p:nvSpPr>
        <p:spPr>
          <a:xfrm>
            <a:off x="6735287" y="4200939"/>
            <a:ext cx="2365513" cy="707886"/>
          </a:xfrm>
          <a:prstGeom prst="rect">
            <a:avLst/>
          </a:prstGeom>
          <a:noFill/>
        </p:spPr>
        <p:txBody>
          <a:bodyPr wrap="square" rtlCol="1">
            <a:spAutoFit/>
          </a:bodyPr>
          <a:lstStyle/>
          <a:p>
            <a:r>
              <a:rPr lang="en-US" sz="1000" dirty="0">
                <a:solidFill>
                  <a:srgbClr val="729FCF"/>
                </a:solidFill>
                <a:latin typeface="Open Sans"/>
                <a:ea typeface="Open Sans"/>
              </a:rPr>
              <a:t>* (The size of the dot in the graph is determined by the age used to pair the results of the two questions together)</a:t>
            </a:r>
            <a:endParaRPr lang="he-IL"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PlaceHolder 1"/>
          <p:cNvSpPr>
            <a:spLocks noGrp="1"/>
          </p:cNvSpPr>
          <p:nvPr>
            <p:ph/>
          </p:nvPr>
        </p:nvSpPr>
        <p:spPr>
          <a:xfrm>
            <a:off x="43200" y="0"/>
            <a:ext cx="8787960" cy="3885840"/>
          </a:xfrm>
          <a:prstGeom prst="rect">
            <a:avLst/>
          </a:prstGeom>
          <a:noFill/>
          <a:ln w="0">
            <a:noFill/>
          </a:ln>
        </p:spPr>
        <p:txBody>
          <a:bodyPr lIns="91440" tIns="91440" rIns="91440" bIns="91440" anchor="t">
            <a:normAutofit/>
          </a:bodyPr>
          <a:lstStyle/>
          <a:p>
            <a:pPr marL="0" indent="0" algn="l" rtl="0" eaLnBrk="1" latinLnBrk="0" hangingPunct="1">
              <a:lnSpc>
                <a:spcPct val="115000"/>
              </a:lnSpc>
              <a:spcAft>
                <a:spcPts val="1199"/>
              </a:spcAft>
              <a:buNone/>
            </a:pPr>
            <a:r>
              <a:rPr lang="en-US" sz="1800" dirty="0">
                <a:solidFill>
                  <a:srgbClr val="695D46"/>
                </a:solidFill>
                <a:effectLst/>
                <a:latin typeface="Open Sans" panose="020B0606030504020204" pitchFamily="34" charset="0"/>
              </a:rPr>
              <a:t>Once again, our findings indicate that there is no clear correlation between the frequency of communication with family and friends and levels of depression. Even across various age groups. </a:t>
            </a:r>
          </a:p>
          <a:p>
            <a:pPr>
              <a:lnSpc>
                <a:spcPct val="115000"/>
              </a:lnSpc>
              <a:spcAft>
                <a:spcPts val="1199"/>
              </a:spcAft>
            </a:pPr>
            <a:r>
              <a:rPr lang="en-US" sz="1800" dirty="0">
                <a:solidFill>
                  <a:srgbClr val="695D46"/>
                </a:solidFill>
                <a:effectLst/>
                <a:latin typeface="Open Sans" panose="020B0606030504020204" pitchFamily="34" charset="0"/>
              </a:rPr>
              <a:t>It appears that the majority of individuals report low levels of depression regardless of their responses to the questions. This observation was also suggested by the age-based response graph, which shows consistent answers across age groups, except for the 90 to 103 age range where there is greater variability in the </a:t>
            </a:r>
            <a:r>
              <a:rPr lang="en-US" sz="1800" dirty="0">
                <a:solidFill>
                  <a:srgbClr val="695D46"/>
                </a:solidFill>
                <a:latin typeface="Open Sans" panose="020B0606030504020204" pitchFamily="34" charset="0"/>
              </a:rPr>
              <a:t>results.</a:t>
            </a:r>
            <a:r>
              <a:rPr lang="en-US" sz="1800" dirty="0">
                <a:solidFill>
                  <a:srgbClr val="729FCF"/>
                </a:solidFill>
                <a:latin typeface="Open Sans" panose="020B0606030504020204" pitchFamily="34" charset="0"/>
              </a:rPr>
              <a:t>[1]  </a:t>
            </a:r>
            <a:endParaRPr lang="en-US" sz="1800" dirty="0">
              <a:solidFill>
                <a:srgbClr val="729FCF"/>
              </a:solidFill>
              <a:effectLst/>
              <a:latin typeface="Open Sans" panose="020B0606030504020204" pitchFamily="34" charset="0"/>
            </a:endParaRPr>
          </a:p>
          <a:p>
            <a:pPr marL="0" indent="0" algn="l" rtl="0" eaLnBrk="1" latinLnBrk="0" hangingPunct="1">
              <a:lnSpc>
                <a:spcPct val="115000"/>
              </a:lnSpc>
              <a:spcAft>
                <a:spcPts val="1199"/>
              </a:spcAft>
              <a:buNone/>
            </a:pPr>
            <a:r>
              <a:rPr lang="en-US" sz="1800" dirty="0">
                <a:solidFill>
                  <a:srgbClr val="695D46"/>
                </a:solidFill>
                <a:effectLst/>
                <a:latin typeface="Open Sans" panose="020B0606030504020204" pitchFamily="34" charset="0"/>
              </a:rPr>
              <a:t>Unsatisfied with this outcome, we chose to explore alternative questions to determine if they might influence the reported levels of depression.</a:t>
            </a:r>
            <a:endParaRPr lang="en-US" sz="1800" b="0" u="none" strike="noStrike" dirty="0">
              <a:solidFill>
                <a:srgbClr val="000000"/>
              </a:solidFill>
              <a:effectLst/>
              <a:uFillTx/>
              <a:latin typeface="Arial"/>
            </a:endParaRPr>
          </a:p>
        </p:txBody>
      </p:sp>
      <p:sp>
        <p:nvSpPr>
          <p:cNvPr id="112" name="Rectangle 111"/>
          <p:cNvSpPr/>
          <p:nvPr/>
        </p:nvSpPr>
        <p:spPr>
          <a:xfrm>
            <a:off x="103680" y="4515120"/>
            <a:ext cx="7896960" cy="27554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200" b="0" u="none" strike="noStrike" dirty="0">
                <a:solidFill>
                  <a:srgbClr val="729FCF"/>
                </a:solidFill>
                <a:effectLst/>
                <a:uFillTx/>
                <a:latin typeface="Open Sans"/>
                <a:ea typeface="Open Sans"/>
              </a:rPr>
              <a:t>[1] -</a:t>
            </a:r>
            <a:r>
              <a:rPr lang="en-US" sz="1200" dirty="0">
                <a:solidFill>
                  <a:srgbClr val="729FCF"/>
                </a:solidFill>
                <a:latin typeface="Open Sans"/>
                <a:ea typeface="Open Sans"/>
              </a:rPr>
              <a:t> </a:t>
            </a:r>
            <a:r>
              <a:rPr lang="en-US" sz="1200" b="0" u="none" strike="noStrike" dirty="0">
                <a:solidFill>
                  <a:srgbClr val="729FCF"/>
                </a:solidFill>
                <a:effectLst/>
                <a:uFillTx/>
                <a:latin typeface="Open Sans"/>
                <a:ea typeface="Open Sans"/>
              </a:rPr>
              <a:t>the age range of 90-100</a:t>
            </a:r>
            <a:r>
              <a:rPr lang="en-US" sz="1200" dirty="0">
                <a:solidFill>
                  <a:srgbClr val="729FCF"/>
                </a:solidFill>
                <a:latin typeface="Open Sans"/>
                <a:ea typeface="Open Sans"/>
              </a:rPr>
              <a:t> are scattered across the left-middle side of the graph.</a:t>
            </a:r>
            <a:endParaRPr lang="en-US" sz="1200" b="0" u="none" strike="noStrike" dirty="0">
              <a:solidFill>
                <a:srgbClr val="000000"/>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Rectangle 112"/>
          <p:cNvSpPr/>
          <p:nvPr/>
        </p:nvSpPr>
        <p:spPr>
          <a:xfrm>
            <a:off x="158760" y="55440"/>
            <a:ext cx="2126880" cy="401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800" b="0" u="none" strike="noStrike">
                <a:solidFill>
                  <a:schemeClr val="dk2"/>
                </a:solidFill>
                <a:effectLst/>
                <a:uFillTx/>
                <a:latin typeface="Open Sans"/>
                <a:ea typeface="Open Sans"/>
              </a:rPr>
              <a:t>mapping we used:</a:t>
            </a:r>
            <a:endParaRPr lang="en-US" sz="1800" b="0" u="none" strike="noStrike">
              <a:solidFill>
                <a:srgbClr val="000000"/>
              </a:solidFill>
              <a:effectLst/>
              <a:uFillTx/>
              <a:latin typeface="Arial"/>
            </a:endParaRPr>
          </a:p>
        </p:txBody>
      </p:sp>
      <p:pic>
        <p:nvPicPr>
          <p:cNvPr id="114" name="Picture 113"/>
          <p:cNvPicPr/>
          <p:nvPr/>
        </p:nvPicPr>
        <p:blipFill>
          <a:blip r:embed="rId2"/>
          <a:srcRect b="51510"/>
          <a:stretch/>
        </p:blipFill>
        <p:spPr>
          <a:xfrm>
            <a:off x="1012320" y="842400"/>
            <a:ext cx="4245120" cy="1828080"/>
          </a:xfrm>
          <a:prstGeom prst="rect">
            <a:avLst/>
          </a:prstGeom>
          <a:noFill/>
          <a:ln w="0">
            <a:noFill/>
          </a:ln>
        </p:spPr>
      </p:pic>
      <p:pic>
        <p:nvPicPr>
          <p:cNvPr id="115" name="Picture 114"/>
          <p:cNvPicPr/>
          <p:nvPr/>
        </p:nvPicPr>
        <p:blipFill>
          <a:blip r:embed="rId2"/>
          <a:srcRect t="51842"/>
          <a:stretch/>
        </p:blipFill>
        <p:spPr>
          <a:xfrm>
            <a:off x="1023480" y="3200400"/>
            <a:ext cx="4005360" cy="1713240"/>
          </a:xfrm>
          <a:prstGeom prst="rect">
            <a:avLst/>
          </a:prstGeom>
          <a:noFill/>
          <a:ln w="0">
            <a:noFill/>
          </a:ln>
        </p:spPr>
      </p:pic>
      <p:pic>
        <p:nvPicPr>
          <p:cNvPr id="116" name="Picture 115"/>
          <p:cNvPicPr/>
          <p:nvPr/>
        </p:nvPicPr>
        <p:blipFill>
          <a:blip r:embed="rId3"/>
          <a:srcRect b="39775"/>
          <a:stretch/>
        </p:blipFill>
        <p:spPr>
          <a:xfrm>
            <a:off x="5715000" y="438120"/>
            <a:ext cx="2990520" cy="2075760"/>
          </a:xfrm>
          <a:prstGeom prst="rect">
            <a:avLst/>
          </a:prstGeom>
          <a:noFill/>
          <a:ln w="0">
            <a:noFill/>
          </a:ln>
        </p:spPr>
      </p:pic>
      <p:pic>
        <p:nvPicPr>
          <p:cNvPr id="117" name="Picture 116"/>
          <p:cNvPicPr/>
          <p:nvPr/>
        </p:nvPicPr>
        <p:blipFill>
          <a:blip r:embed="rId3"/>
          <a:srcRect t="59369"/>
          <a:stretch/>
        </p:blipFill>
        <p:spPr>
          <a:xfrm>
            <a:off x="5695920" y="3429000"/>
            <a:ext cx="2990520" cy="1400040"/>
          </a:xfrm>
          <a:prstGeom prst="rect">
            <a:avLst/>
          </a:prstGeom>
          <a:noFill/>
          <a:ln w="0">
            <a:noFill/>
          </a:ln>
        </p:spPr>
      </p:pic>
      <p:sp>
        <p:nvSpPr>
          <p:cNvPr id="118" name="Rectangle 117"/>
          <p:cNvSpPr/>
          <p:nvPr/>
        </p:nvSpPr>
        <p:spPr>
          <a:xfrm>
            <a:off x="954360" y="457200"/>
            <a:ext cx="2126880" cy="401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800" b="0" u="none" strike="noStrike">
                <a:solidFill>
                  <a:schemeClr val="dk2"/>
                </a:solidFill>
                <a:effectLst/>
                <a:uFillTx/>
                <a:latin typeface="Open Sans"/>
                <a:ea typeface="Open Sans"/>
              </a:rPr>
              <a:t>Q22</a:t>
            </a:r>
            <a:endParaRPr lang="en-US" sz="1800" b="0" u="none" strike="noStrike">
              <a:solidFill>
                <a:srgbClr val="000000"/>
              </a:solidFill>
              <a:effectLst/>
              <a:uFillTx/>
              <a:latin typeface="Arial"/>
            </a:endParaRPr>
          </a:p>
        </p:txBody>
      </p:sp>
      <p:sp>
        <p:nvSpPr>
          <p:cNvPr id="119" name="Rectangle 118"/>
          <p:cNvSpPr/>
          <p:nvPr/>
        </p:nvSpPr>
        <p:spPr>
          <a:xfrm>
            <a:off x="954720" y="2797200"/>
            <a:ext cx="2126880" cy="401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800" b="0" u="none" strike="noStrike">
                <a:solidFill>
                  <a:schemeClr val="dk2"/>
                </a:solidFill>
                <a:effectLst/>
                <a:uFillTx/>
                <a:latin typeface="Open Sans"/>
                <a:ea typeface="Open Sans"/>
              </a:rPr>
              <a:t>Q24</a:t>
            </a:r>
            <a:endParaRPr lang="en-US" sz="1800" b="0" u="none" strike="noStrike">
              <a:solidFill>
                <a:srgbClr val="000000"/>
              </a:solidFill>
              <a:effectLst/>
              <a:uFillTx/>
              <a:latin typeface="Arial"/>
            </a:endParaRPr>
          </a:p>
        </p:txBody>
      </p:sp>
      <p:sp>
        <p:nvSpPr>
          <p:cNvPr id="120" name="Rectangle 119"/>
          <p:cNvSpPr/>
          <p:nvPr/>
        </p:nvSpPr>
        <p:spPr>
          <a:xfrm>
            <a:off x="5706720" y="25200"/>
            <a:ext cx="2126880" cy="401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800" b="0" u="none" strike="noStrike">
                <a:solidFill>
                  <a:schemeClr val="dk2"/>
                </a:solidFill>
                <a:effectLst/>
                <a:uFillTx/>
                <a:latin typeface="Open Sans"/>
                <a:ea typeface="Open Sans"/>
              </a:rPr>
              <a:t>Q17</a:t>
            </a:r>
            <a:endParaRPr lang="en-US" sz="1800" b="0" u="none" strike="noStrike">
              <a:solidFill>
                <a:srgbClr val="000000"/>
              </a:solidFill>
              <a:effectLst/>
              <a:uFillTx/>
              <a:latin typeface="Arial"/>
            </a:endParaRPr>
          </a:p>
        </p:txBody>
      </p:sp>
      <p:sp>
        <p:nvSpPr>
          <p:cNvPr id="121" name="Rectangle 120"/>
          <p:cNvSpPr/>
          <p:nvPr/>
        </p:nvSpPr>
        <p:spPr>
          <a:xfrm>
            <a:off x="5707080" y="3049200"/>
            <a:ext cx="2126880" cy="401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800" b="0" u="none" strike="noStrike">
                <a:solidFill>
                  <a:schemeClr val="dk2"/>
                </a:solidFill>
                <a:effectLst/>
                <a:uFillTx/>
                <a:latin typeface="Open Sans"/>
                <a:ea typeface="Open Sans"/>
              </a:rPr>
              <a:t>Q16, Q19</a:t>
            </a:r>
            <a:endParaRPr lang="en-US" sz="1800" b="0" u="none" strike="noStrike">
              <a:solidFill>
                <a:srgbClr val="000000"/>
              </a:solidFill>
              <a:effectLst/>
              <a:uFillTx/>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PlaceHolder 1"/>
          <p:cNvSpPr>
            <a:spLocks noGrp="1"/>
          </p:cNvSpPr>
          <p:nvPr>
            <p:ph/>
          </p:nvPr>
        </p:nvSpPr>
        <p:spPr>
          <a:xfrm>
            <a:off x="250560" y="0"/>
            <a:ext cx="8519400" cy="3301560"/>
          </a:xfrm>
          <a:prstGeom prst="rect">
            <a:avLst/>
          </a:prstGeom>
          <a:noFill/>
          <a:ln w="0">
            <a:noFill/>
          </a:ln>
        </p:spPr>
        <p:txBody>
          <a:bodyPr lIns="91440" tIns="91440" rIns="91440" bIns="91440" anchor="t">
            <a:normAutofit/>
          </a:bodyPr>
          <a:lstStyle/>
          <a:p>
            <a:pPr indent="0">
              <a:lnSpc>
                <a:spcPct val="115000"/>
              </a:lnSpc>
              <a:spcAft>
                <a:spcPts val="1199"/>
              </a:spcAft>
              <a:buNone/>
              <a:tabLst>
                <a:tab pos="0" algn="l"/>
              </a:tabLst>
            </a:pPr>
            <a:r>
              <a:rPr lang="en-US" sz="1800" b="0" u="none" strike="noStrike">
                <a:solidFill>
                  <a:schemeClr val="dk2"/>
                </a:solidFill>
                <a:effectLst/>
                <a:uFillTx/>
                <a:latin typeface="Open Sans"/>
                <a:ea typeface="Open Sans"/>
              </a:rPr>
              <a:t>And this is the result we got: </a:t>
            </a:r>
            <a:endParaRPr lang="en-US" sz="1800" b="0" u="none" strike="noStrike">
              <a:solidFill>
                <a:srgbClr val="000000"/>
              </a:solidFill>
              <a:effectLst/>
              <a:uFillTx/>
              <a:latin typeface="Arial"/>
            </a:endParaRPr>
          </a:p>
          <a:p>
            <a:pPr indent="0">
              <a:lnSpc>
                <a:spcPct val="115000"/>
              </a:lnSpc>
              <a:spcAft>
                <a:spcPts val="1199"/>
              </a:spcAft>
              <a:buNone/>
              <a:tabLst>
                <a:tab pos="0" algn="l"/>
              </a:tabLst>
            </a:pPr>
            <a:endParaRPr lang="en-US" sz="1800" b="0" u="none" strike="noStrike">
              <a:solidFill>
                <a:srgbClr val="000000"/>
              </a:solidFill>
              <a:effectLst/>
              <a:uFillTx/>
              <a:latin typeface="Arial"/>
            </a:endParaRPr>
          </a:p>
        </p:txBody>
      </p:sp>
      <p:pic>
        <p:nvPicPr>
          <p:cNvPr id="123" name="Picture 122"/>
          <p:cNvPicPr/>
          <p:nvPr/>
        </p:nvPicPr>
        <p:blipFill>
          <a:blip r:embed="rId2"/>
          <a:stretch/>
        </p:blipFill>
        <p:spPr>
          <a:xfrm>
            <a:off x="5326200" y="1143000"/>
            <a:ext cx="3750840" cy="3078360"/>
          </a:xfrm>
          <a:prstGeom prst="rect">
            <a:avLst/>
          </a:prstGeom>
          <a:noFill/>
          <a:ln w="0">
            <a:noFill/>
          </a:ln>
        </p:spPr>
      </p:pic>
      <p:sp>
        <p:nvSpPr>
          <p:cNvPr id="124" name="Rectangle 123"/>
          <p:cNvSpPr/>
          <p:nvPr/>
        </p:nvSpPr>
        <p:spPr>
          <a:xfrm>
            <a:off x="5257800" y="408600"/>
            <a:ext cx="3657240" cy="102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800" b="0" u="none" strike="noStrike">
                <a:solidFill>
                  <a:srgbClr val="729FCF"/>
                </a:solidFill>
                <a:effectLst/>
                <a:uFillTx/>
                <a:latin typeface="Open Sans"/>
                <a:ea typeface="Open Sans"/>
              </a:rPr>
              <a:t>X1- v43, x2- v44, x3- v45,x4- v49, x5- v51(this is normalized)</a:t>
            </a:r>
            <a:endParaRPr lang="en-US" sz="1800" b="0" u="none" strike="noStrike">
              <a:solidFill>
                <a:srgbClr val="000000"/>
              </a:solidFill>
              <a:effectLst/>
              <a:uFillTx/>
              <a:latin typeface="Arial"/>
            </a:endParaRPr>
          </a:p>
        </p:txBody>
      </p:sp>
      <p:pic>
        <p:nvPicPr>
          <p:cNvPr id="125" name="Picture 124"/>
          <p:cNvPicPr/>
          <p:nvPr/>
        </p:nvPicPr>
        <p:blipFill>
          <a:blip r:embed="rId3"/>
          <a:stretch/>
        </p:blipFill>
        <p:spPr>
          <a:xfrm>
            <a:off x="38520" y="457200"/>
            <a:ext cx="5218920" cy="4527360"/>
          </a:xfrm>
          <a:prstGeom prst="rect">
            <a:avLst/>
          </a:prstGeom>
          <a:noFill/>
          <a:ln w="0">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PlaceHolder 1"/>
          <p:cNvSpPr>
            <a:spLocks noGrp="1"/>
          </p:cNvSpPr>
          <p:nvPr>
            <p:ph/>
          </p:nvPr>
        </p:nvSpPr>
        <p:spPr>
          <a:xfrm>
            <a:off x="0" y="36000"/>
            <a:ext cx="9144000" cy="4078800"/>
          </a:xfrm>
          <a:prstGeom prst="rect">
            <a:avLst/>
          </a:prstGeom>
          <a:noFill/>
          <a:ln w="0">
            <a:noFill/>
          </a:ln>
        </p:spPr>
        <p:txBody>
          <a:bodyPr lIns="91440" tIns="91440" rIns="91440" bIns="91440" anchor="t">
            <a:normAutofit/>
          </a:bodyPr>
          <a:lstStyle/>
          <a:p>
            <a:pPr marL="0" indent="0" algn="l" rtl="0" eaLnBrk="1" latinLnBrk="0" hangingPunct="1">
              <a:lnSpc>
                <a:spcPct val="115000"/>
              </a:lnSpc>
              <a:spcBef>
                <a:spcPts val="283"/>
              </a:spcBef>
              <a:spcAft>
                <a:spcPts val="916"/>
              </a:spcAft>
              <a:buNone/>
            </a:pPr>
            <a:r>
              <a:rPr lang="en-US" sz="1500" dirty="0">
                <a:solidFill>
                  <a:srgbClr val="695D46"/>
                </a:solidFill>
                <a:effectLst/>
                <a:latin typeface="Open Sans" panose="020B0606030504020204" pitchFamily="34" charset="0"/>
              </a:rPr>
              <a:t>Once again, our analysis confirmed that there is no significant correlation between the amount of communication with family and friends and the level of depression, even after examining different questions.</a:t>
            </a:r>
          </a:p>
          <a:p>
            <a:pPr marL="0" indent="0" algn="l" rtl="0" eaLnBrk="1" latinLnBrk="0" hangingPunct="1">
              <a:lnSpc>
                <a:spcPct val="115000"/>
              </a:lnSpc>
              <a:spcBef>
                <a:spcPts val="283"/>
              </a:spcBef>
              <a:spcAft>
                <a:spcPts val="916"/>
              </a:spcAft>
              <a:buNone/>
            </a:pPr>
            <a:r>
              <a:rPr lang="en-US" sz="1500" dirty="0">
                <a:solidFill>
                  <a:srgbClr val="695D46"/>
                </a:solidFill>
                <a:effectLst/>
                <a:latin typeface="Open Sans" panose="020B0606030504020204" pitchFamily="34" charset="0"/>
              </a:rPr>
              <a:t>Furthermore, the correlation map indicates that questions v43 (Q16 </a:t>
            </a:r>
            <a:r>
              <a:rPr lang="en-US" sz="1500" dirty="0">
                <a:solidFill>
                  <a:srgbClr val="729FCF"/>
                </a:solidFill>
                <a:effectLst/>
                <a:latin typeface="Open Sans" panose="020B0606030504020204" pitchFamily="34" charset="0"/>
              </a:rPr>
              <a:t>[1]</a:t>
            </a:r>
            <a:r>
              <a:rPr lang="en-US" sz="1500" dirty="0">
                <a:solidFill>
                  <a:srgbClr val="695D46"/>
                </a:solidFill>
                <a:effectLst/>
                <a:latin typeface="Open Sans" panose="020B0606030504020204" pitchFamily="34" charset="0"/>
              </a:rPr>
              <a:t> ), v44 (Q17 </a:t>
            </a:r>
            <a:r>
              <a:rPr lang="en-US" sz="1500" dirty="0">
                <a:solidFill>
                  <a:srgbClr val="729FCF"/>
                </a:solidFill>
                <a:effectLst/>
                <a:latin typeface="Open Sans" panose="020B0606030504020204" pitchFamily="34" charset="0"/>
              </a:rPr>
              <a:t>[2]</a:t>
            </a:r>
            <a:r>
              <a:rPr lang="en-US" sz="1500" dirty="0">
                <a:solidFill>
                  <a:srgbClr val="695D46"/>
                </a:solidFill>
                <a:effectLst/>
                <a:latin typeface="Open Sans" panose="020B0606030504020204" pitchFamily="34" charset="0"/>
              </a:rPr>
              <a:t> ), v45 (Q18 </a:t>
            </a:r>
            <a:r>
              <a:rPr lang="en-US" sz="1500" dirty="0">
                <a:solidFill>
                  <a:srgbClr val="729FCF"/>
                </a:solidFill>
                <a:effectLst/>
                <a:latin typeface="Open Sans" panose="020B0606030504020204" pitchFamily="34" charset="0"/>
              </a:rPr>
              <a:t>[3]</a:t>
            </a:r>
            <a:r>
              <a:rPr lang="en-US" sz="1500" dirty="0">
                <a:solidFill>
                  <a:srgbClr val="695D46"/>
                </a:solidFill>
                <a:effectLst/>
                <a:latin typeface="Open Sans" panose="020B0606030504020204" pitchFamily="34" charset="0"/>
              </a:rPr>
              <a:t>), and v49 (Q22 </a:t>
            </a:r>
            <a:r>
              <a:rPr lang="en-US" sz="1500" dirty="0">
                <a:solidFill>
                  <a:srgbClr val="729FCF"/>
                </a:solidFill>
                <a:effectLst/>
                <a:latin typeface="Open Sans" panose="020B0606030504020204" pitchFamily="34" charset="0"/>
              </a:rPr>
              <a:t>[4]</a:t>
            </a:r>
            <a:r>
              <a:rPr lang="en-US" sz="1500" dirty="0">
                <a:solidFill>
                  <a:srgbClr val="695D46"/>
                </a:solidFill>
                <a:effectLst/>
                <a:latin typeface="Open Sans" panose="020B0606030504020204" pitchFamily="34" charset="0"/>
              </a:rPr>
              <a:t>) exhibit stronger correlations among themselves than with the depression measure (v55), which aligns with intuitive expectations.</a:t>
            </a:r>
          </a:p>
          <a:p>
            <a:pPr marL="0" indent="0" algn="l" rtl="0" eaLnBrk="1" latinLnBrk="0" hangingPunct="1">
              <a:lnSpc>
                <a:spcPct val="115000"/>
              </a:lnSpc>
              <a:spcBef>
                <a:spcPts val="283"/>
              </a:spcBef>
              <a:spcAft>
                <a:spcPts val="916"/>
              </a:spcAft>
              <a:buNone/>
            </a:pPr>
            <a:r>
              <a:rPr lang="en-US" sz="1500" dirty="0">
                <a:solidFill>
                  <a:srgbClr val="695D46"/>
                </a:solidFill>
                <a:effectLst/>
                <a:latin typeface="Open Sans" panose="020B0606030504020204" pitchFamily="34" charset="0"/>
              </a:rPr>
              <a:t>Similar patterns are observed in the linear regression results, although these should be interpreted cautiously due to an R² value below 0.5. Notably, the regression suggests that the effect of v49 (Q22) is insignificant, which contrasts with the findings from the correlation graph.</a:t>
            </a:r>
          </a:p>
          <a:p>
            <a:pPr marL="0" indent="0" algn="l" rtl="0" eaLnBrk="1" latinLnBrk="0" hangingPunct="1">
              <a:lnSpc>
                <a:spcPct val="115000"/>
              </a:lnSpc>
              <a:spcBef>
                <a:spcPts val="283"/>
              </a:spcBef>
              <a:spcAft>
                <a:spcPts val="916"/>
              </a:spcAft>
              <a:buNone/>
            </a:pPr>
            <a:r>
              <a:rPr lang="en-US" sz="1500" dirty="0">
                <a:solidFill>
                  <a:srgbClr val="695D46"/>
                </a:solidFill>
                <a:effectLst/>
                <a:latin typeface="Open Sans" panose="020B0606030504020204" pitchFamily="34" charset="0"/>
              </a:rPr>
              <a:t>Given these unsatisfactory outcomes, we have decided to revisit the analysis by exploring combinations of questions to better understand the relationships.</a:t>
            </a:r>
            <a:endParaRPr lang="en-US" sz="1600" b="0" u="none" strike="noStrike" dirty="0">
              <a:solidFill>
                <a:srgbClr val="000000"/>
              </a:solidFill>
              <a:effectLst/>
              <a:uFillTx/>
              <a:latin typeface="Arial"/>
            </a:endParaRPr>
          </a:p>
        </p:txBody>
      </p:sp>
      <p:sp>
        <p:nvSpPr>
          <p:cNvPr id="127" name="Rectangle 126"/>
          <p:cNvSpPr/>
          <p:nvPr/>
        </p:nvSpPr>
        <p:spPr>
          <a:xfrm>
            <a:off x="120600" y="4114800"/>
            <a:ext cx="6400440" cy="1126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200" b="0" u="none" strike="noStrike" dirty="0">
                <a:solidFill>
                  <a:srgbClr val="729FCF"/>
                </a:solidFill>
                <a:effectLst/>
                <a:uFillTx/>
                <a:latin typeface="Open Sans"/>
                <a:ea typeface="Open Sans"/>
              </a:rPr>
              <a:t>[1] -Past 4 weeks how often: family members act angry with you</a:t>
            </a:r>
            <a:endParaRPr lang="en-US" sz="1200" b="0" u="none" strike="noStrike" dirty="0">
              <a:solidFill>
                <a:srgbClr val="000000"/>
              </a:solidFill>
              <a:effectLst/>
              <a:uFillTx/>
              <a:latin typeface="Arial"/>
            </a:endParaRPr>
          </a:p>
          <a:p>
            <a:pPr>
              <a:lnSpc>
                <a:spcPct val="100000"/>
              </a:lnSpc>
            </a:pPr>
            <a:r>
              <a:rPr lang="en-US" sz="1200" b="0" u="none" strike="noStrike" dirty="0">
                <a:solidFill>
                  <a:srgbClr val="729FCF"/>
                </a:solidFill>
                <a:effectLst/>
                <a:uFillTx/>
                <a:latin typeface="Open Sans"/>
                <a:ea typeface="Open Sans"/>
              </a:rPr>
              <a:t>[2] -How often: go out with friends or acquaintances?</a:t>
            </a:r>
            <a:endParaRPr lang="en-US" sz="1200" b="0" u="none" strike="noStrike" dirty="0">
              <a:solidFill>
                <a:srgbClr val="000000"/>
              </a:solidFill>
              <a:effectLst/>
              <a:uFillTx/>
              <a:latin typeface="Arial"/>
            </a:endParaRPr>
          </a:p>
          <a:p>
            <a:pPr>
              <a:lnSpc>
                <a:spcPct val="100000"/>
              </a:lnSpc>
            </a:pPr>
            <a:r>
              <a:rPr lang="en-US" sz="1200" b="0" u="none" strike="noStrike" dirty="0">
                <a:solidFill>
                  <a:srgbClr val="729FCF"/>
                </a:solidFill>
                <a:effectLst/>
                <a:uFillTx/>
                <a:latin typeface="Open Sans"/>
                <a:ea typeface="Open Sans"/>
              </a:rPr>
              <a:t>[3]-How often: make new friends when going out with friends?</a:t>
            </a:r>
            <a:endParaRPr lang="en-US" sz="1200" b="0" u="none" strike="noStrike" dirty="0">
              <a:solidFill>
                <a:srgbClr val="000000"/>
              </a:solidFill>
              <a:effectLst/>
              <a:uFillTx/>
              <a:latin typeface="Arial"/>
            </a:endParaRPr>
          </a:p>
          <a:p>
            <a:pPr>
              <a:lnSpc>
                <a:spcPct val="100000"/>
              </a:lnSpc>
            </a:pPr>
            <a:r>
              <a:rPr lang="en-US" sz="1200" b="0" u="none" strike="noStrike" dirty="0">
                <a:solidFill>
                  <a:srgbClr val="729FCF"/>
                </a:solidFill>
                <a:effectLst/>
                <a:uFillTx/>
                <a:latin typeface="Open Sans"/>
                <a:ea typeface="Open Sans"/>
              </a:rPr>
              <a:t>[4]-How often contact with sibling most frequently in contact with?</a:t>
            </a:r>
            <a:endParaRPr lang="en-US" sz="1200" b="0" u="none" strike="noStrike" dirty="0">
              <a:solidFill>
                <a:srgbClr val="000000"/>
              </a:solidFill>
              <a:effectLst/>
              <a:uFillTx/>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D240B-781E-FD4E-2FAA-0AC78B0712BA}"/>
              </a:ext>
            </a:extLst>
          </p:cNvPr>
          <p:cNvSpPr>
            <a:spLocks noGrp="1"/>
          </p:cNvSpPr>
          <p:nvPr>
            <p:ph type="title"/>
          </p:nvPr>
        </p:nvSpPr>
        <p:spPr>
          <a:xfrm>
            <a:off x="94721" y="0"/>
            <a:ext cx="6718518" cy="191144"/>
          </a:xfrm>
        </p:spPr>
        <p:txBody>
          <a:bodyPr>
            <a:noAutofit/>
          </a:bodyPr>
          <a:lstStyle/>
          <a:p>
            <a:r>
              <a:rPr lang="en-US" sz="3600" b="1" u="none" strike="noStrike" dirty="0">
                <a:solidFill>
                  <a:schemeClr val="accent1"/>
                </a:solidFill>
                <a:effectLst/>
                <a:uFillTx/>
                <a:latin typeface="PT Sans Narrow"/>
                <a:ea typeface="PT Sans Narrow"/>
              </a:rPr>
              <a:t>The metrics we created</a:t>
            </a:r>
            <a:endParaRPr lang="he-IL" sz="3600" dirty="0">
              <a:solidFill>
                <a:srgbClr val="FF0000"/>
              </a:solidFill>
            </a:endParaRPr>
          </a:p>
        </p:txBody>
      </p:sp>
      <p:sp>
        <p:nvSpPr>
          <p:cNvPr id="3" name="Text Placeholder 2">
            <a:extLst>
              <a:ext uri="{FF2B5EF4-FFF2-40B4-BE49-F238E27FC236}">
                <a16:creationId xmlns:a16="http://schemas.microsoft.com/office/drawing/2014/main" id="{4AD3937E-2DEB-8459-54DC-1A22DCEC311C}"/>
              </a:ext>
            </a:extLst>
          </p:cNvPr>
          <p:cNvSpPr>
            <a:spLocks noGrp="1"/>
          </p:cNvSpPr>
          <p:nvPr>
            <p:ph type="body"/>
          </p:nvPr>
        </p:nvSpPr>
        <p:spPr>
          <a:xfrm>
            <a:off x="0" y="654822"/>
            <a:ext cx="4160747" cy="4698540"/>
          </a:xfrm>
        </p:spPr>
        <p:txBody>
          <a:bodyPr>
            <a:noAutofit/>
          </a:bodyPr>
          <a:lstStyle/>
          <a:p>
            <a:pPr marL="0" indent="0">
              <a:buNone/>
            </a:pPr>
            <a:r>
              <a:rPr lang="en-US" sz="800" b="1" u="sng" dirty="0">
                <a:solidFill>
                  <a:srgbClr val="020605"/>
                </a:solidFill>
                <a:latin typeface="Open Sans" panose="020B0606030504020204" pitchFamily="34" charset="0"/>
                <a:ea typeface="Open Sans" panose="020B0606030504020204" pitchFamily="34" charset="0"/>
                <a:cs typeface="Open Sans" panose="020B0606030504020204" pitchFamily="34" charset="0"/>
              </a:rPr>
              <a:t>loneliness metric:</a:t>
            </a:r>
          </a:p>
          <a:p>
            <a:pPr marL="0" indent="0">
              <a:buNone/>
            </a:pPr>
            <a:endParaRPr lang="en-US" sz="800" b="1" u="sng" dirty="0">
              <a:solidFill>
                <a:srgbClr val="020605"/>
              </a:solidFill>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t>1. How often in the past 4 weeks have you felt that…  </a:t>
            </a:r>
          </a:p>
          <a:p>
            <a:pPr marL="0" indent="0">
              <a:buNone/>
            </a:pPr>
            <a:endPar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t>v31:  you lack companionship?  </a:t>
            </a:r>
          </a:p>
          <a:p>
            <a:pPr marL="0" indent="0">
              <a:buNone/>
            </a:pPr>
            <a:endPar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t>v32: you are isolated from others?   </a:t>
            </a:r>
          </a:p>
          <a:p>
            <a:pPr marL="0" indent="0">
              <a:buNone/>
            </a:pPr>
            <a:endPar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t>v33:  you are left out?  </a:t>
            </a:r>
          </a:p>
          <a:p>
            <a:pPr marL="0" indent="0">
              <a:buNone/>
            </a:pPr>
            <a:endPar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t> 2. During the past 4 weeks how often…</a:t>
            </a:r>
          </a:p>
          <a:p>
            <a:pPr marL="0" indent="0">
              <a:buNone/>
            </a:pPr>
            <a:endPar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t>v55: have you felt unhappy and depressed? </a:t>
            </a:r>
          </a:p>
          <a:p>
            <a:pPr marL="0" indent="0">
              <a:buNone/>
            </a:pPr>
            <a:endPar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t>v56:  have you felt difficulties were piling up so high that you could not overcome them?  </a:t>
            </a:r>
            <a:b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br>
            <a:endPar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t>3. v58: All things considered, how satisfied are you with your life nowadays?</a:t>
            </a:r>
          </a:p>
          <a:p>
            <a:pPr marL="0" indent="0">
              <a:buNone/>
            </a:pPr>
            <a:endPar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endParaRPr>
          </a:p>
          <a:p>
            <a:pPr marL="0" indent="0">
              <a:buNone/>
            </a:pPr>
            <a:endPar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endParaRPr>
          </a:p>
          <a:p>
            <a:pPr marL="0" indent="0">
              <a:buNone/>
            </a:pPr>
            <a:endPar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endParaRPr>
          </a:p>
          <a:p>
            <a:pPr marL="0" indent="0">
              <a:buNone/>
            </a:pPr>
            <a:endPar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en-US" sz="800" b="1" u="sng" dirty="0">
                <a:solidFill>
                  <a:srgbClr val="020605"/>
                </a:solidFill>
                <a:latin typeface="Open Sans" panose="020B0606030504020204" pitchFamily="34" charset="0"/>
                <a:ea typeface="Open Sans" panose="020B0606030504020204" pitchFamily="34" charset="0"/>
                <a:cs typeface="Open Sans" panose="020B0606030504020204" pitchFamily="34" charset="0"/>
              </a:rPr>
              <a:t>friend connections:</a:t>
            </a:r>
          </a:p>
          <a:p>
            <a:pPr marL="0" indent="0">
              <a:buNone/>
            </a:pPr>
            <a:endParaRPr lang="en-US" sz="800" b="1" u="sng" dirty="0">
              <a:solidFill>
                <a:srgbClr val="020605"/>
              </a:solidFill>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t>1.v44 :How often do you go out to eat or drink with three or more friends or acquaintances who are not family members? </a:t>
            </a:r>
          </a:p>
          <a:p>
            <a:pPr marL="0" indent="0">
              <a:buNone/>
            </a:pPr>
            <a:endPar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t>2. v45 :At these occasions, how often do you make new friends or acquaintances? </a:t>
            </a:r>
          </a:p>
          <a:p>
            <a:pPr marL="0" indent="0">
              <a:buNone/>
            </a:pPr>
            <a: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t>*referring to v44</a:t>
            </a:r>
          </a:p>
          <a:p>
            <a:pPr marL="0" indent="0">
              <a:buNone/>
            </a:pPr>
            <a:endPar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t>3. v52:think about the close friend you have contact with most frequently: How often do you  have contact with that close friend, either face-to-face, by phone, internet or any other communication device?  </a:t>
            </a:r>
          </a:p>
          <a:p>
            <a:pPr marL="0" indent="0">
              <a:buNone/>
            </a:pPr>
            <a:endPar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t>4. v17:  In the past 12 months, how often, if at all, have you taken part in activities of groups or associations for leisure, sports or culture ?</a:t>
            </a:r>
          </a:p>
          <a:p>
            <a:pPr marL="0" indent="0">
              <a:buNone/>
            </a:pPr>
            <a: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t> </a:t>
            </a:r>
          </a:p>
          <a:p>
            <a:pPr marL="0" indent="0">
              <a:buNone/>
            </a:pPr>
            <a:endParaRPr lang="he-IL" sz="800" dirty="0">
              <a:solidFill>
                <a:srgbClr val="020605"/>
              </a:solidFill>
              <a:latin typeface="Open Sans" panose="020B0606030504020204" pitchFamily="34" charset="0"/>
              <a:ea typeface="Open Sans" panose="020B0606030504020204" pitchFamily="34" charset="0"/>
            </a:endParaRPr>
          </a:p>
        </p:txBody>
      </p:sp>
      <p:sp>
        <p:nvSpPr>
          <p:cNvPr id="7" name="TextBox 6">
            <a:extLst>
              <a:ext uri="{FF2B5EF4-FFF2-40B4-BE49-F238E27FC236}">
                <a16:creationId xmlns:a16="http://schemas.microsoft.com/office/drawing/2014/main" id="{30CA77EE-1ED0-98F8-1A97-FF255FC50680}"/>
              </a:ext>
            </a:extLst>
          </p:cNvPr>
          <p:cNvSpPr txBox="1"/>
          <p:nvPr/>
        </p:nvSpPr>
        <p:spPr>
          <a:xfrm>
            <a:off x="4392118" y="0"/>
            <a:ext cx="4327377" cy="5509200"/>
          </a:xfrm>
          <a:prstGeom prst="rect">
            <a:avLst/>
          </a:prstGeom>
          <a:noFill/>
        </p:spPr>
        <p:txBody>
          <a:bodyPr wrap="square" rtlCol="1">
            <a:spAutoFit/>
          </a:bodyPr>
          <a:lstStyle/>
          <a:p>
            <a:r>
              <a:rPr lang="en-US" sz="800" b="1" u="sng" dirty="0">
                <a:solidFill>
                  <a:srgbClr val="020605"/>
                </a:solidFill>
                <a:latin typeface="Open Sans" panose="020B0606030504020204" pitchFamily="34" charset="0"/>
                <a:ea typeface="Open Sans" panose="020B0606030504020204" pitchFamily="34" charset="0"/>
                <a:cs typeface="Open Sans" panose="020B0606030504020204" pitchFamily="34" charset="0"/>
              </a:rPr>
              <a:t>family connections:</a:t>
            </a:r>
          </a:p>
          <a:p>
            <a:endPar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endParaRPr>
          </a:p>
          <a:p>
            <a: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t>1. v48:think about the parent you have contact with most frequently: How often do you </a:t>
            </a:r>
          </a:p>
          <a:p>
            <a: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t>have contact with that parent, either face-to-face, by phone, internet or any other </a:t>
            </a:r>
          </a:p>
          <a:p>
            <a: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t>communication device? </a:t>
            </a:r>
          </a:p>
          <a:p>
            <a:b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br>
            <a: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t>2. v46:Please indicate about how many people do you have contact with on a typical weekday </a:t>
            </a:r>
          </a:p>
          <a:p>
            <a: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t>irrespective of whether you know them or not.</a:t>
            </a:r>
          </a:p>
          <a:p>
            <a:b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br>
            <a: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t>3. v47:About how many of *these people do you see face-to-face on a typical weekday?  </a:t>
            </a:r>
          </a:p>
          <a:p>
            <a: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t>*Refers to the previous question.</a:t>
            </a:r>
          </a:p>
          <a:p>
            <a:b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br>
            <a: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t>4. v53: Think now of your contact with all of your family members and close friends. How much of it is through text messages, mobile phones, or other communication devices that use the </a:t>
            </a:r>
          </a:p>
          <a:p>
            <a: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t>internet?</a:t>
            </a:r>
          </a:p>
          <a:p>
            <a:b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br>
            <a: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t>5. v41: In general, do your family members put pressure on you about the way you live or organize your personal life? </a:t>
            </a:r>
          </a:p>
          <a:p>
            <a:b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br>
            <a: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t>6. v42: Do you feel that your family, relatives and/or friends make too many demands on you?  </a:t>
            </a:r>
          </a:p>
          <a:p>
            <a:b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br>
            <a: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t>7. v49: Think about the brother or sister you have contact with most frequently: How often do you </a:t>
            </a:r>
          </a:p>
          <a:p>
            <a: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t>have contact with that brother or sister, either face-to-face, by phone, internet or any other </a:t>
            </a:r>
          </a:p>
          <a:p>
            <a: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t>communication device? </a:t>
            </a:r>
          </a:p>
          <a:p>
            <a:b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br>
            <a: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t>8. v50: Think about your adult child you have contact with most frequently: How often do you </a:t>
            </a:r>
          </a:p>
          <a:p>
            <a: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t>have contact with this child aged at least 18, either face-to-face, by phone, internet or any other </a:t>
            </a:r>
          </a:p>
          <a:p>
            <a: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t>communication device?</a:t>
            </a:r>
          </a:p>
          <a:p>
            <a:b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br>
            <a: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t>9. v51:  Now, think about the other family member you have contact with most frequently, aside of  your spouse or partner, parents, siblings or adult children. How often do you have contact with that family member, either face-to-face, by phone, internet or any other communication device?  </a:t>
            </a:r>
          </a:p>
          <a:p>
            <a: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t> </a:t>
            </a:r>
          </a:p>
          <a:p>
            <a:br>
              <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rPr>
            </a:br>
            <a:endParaRPr lang="en-US" sz="800" dirty="0">
              <a:solidFill>
                <a:srgbClr val="020605"/>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297576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EFC9B-68B0-44AF-497E-EFB057243AB3}"/>
              </a:ext>
            </a:extLst>
          </p:cNvPr>
          <p:cNvSpPr>
            <a:spLocks noGrp="1"/>
          </p:cNvSpPr>
          <p:nvPr>
            <p:ph type="title"/>
          </p:nvPr>
        </p:nvSpPr>
        <p:spPr>
          <a:xfrm>
            <a:off x="154363" y="137662"/>
            <a:ext cx="8519400" cy="706320"/>
          </a:xfrm>
        </p:spPr>
        <p:txBody>
          <a:bodyPr>
            <a:normAutofit fontScale="90000"/>
          </a:bodyPr>
          <a:lstStyle/>
          <a:p>
            <a:r>
              <a:rPr lang="en-US" b="1" dirty="0">
                <a:solidFill>
                  <a:schemeClr val="accent1"/>
                </a:solidFill>
                <a:latin typeface="PT Sans Narrow"/>
                <a:ea typeface="PT Sans Narrow"/>
              </a:rPr>
              <a:t> initial tests with new metrics</a:t>
            </a:r>
            <a:endParaRPr lang="he-IL" dirty="0"/>
          </a:p>
        </p:txBody>
      </p:sp>
      <p:sp>
        <p:nvSpPr>
          <p:cNvPr id="3" name="Text Placeholder 2">
            <a:extLst>
              <a:ext uri="{FF2B5EF4-FFF2-40B4-BE49-F238E27FC236}">
                <a16:creationId xmlns:a16="http://schemas.microsoft.com/office/drawing/2014/main" id="{BF92E6CF-5DD0-8C40-3C55-521B573D62A4}"/>
              </a:ext>
            </a:extLst>
          </p:cNvPr>
          <p:cNvSpPr>
            <a:spLocks noGrp="1"/>
          </p:cNvSpPr>
          <p:nvPr>
            <p:ph type="body"/>
          </p:nvPr>
        </p:nvSpPr>
        <p:spPr>
          <a:xfrm>
            <a:off x="94402" y="719339"/>
            <a:ext cx="8519400" cy="915497"/>
          </a:xfrm>
        </p:spPr>
        <p:txBody>
          <a:bodyPr>
            <a:noAutofit/>
          </a:bodyPr>
          <a:lstStyle/>
          <a:p>
            <a:pPr marL="0" indent="0">
              <a:buNone/>
            </a:pPr>
            <a:r>
              <a:rPr lang="en-US" sz="1600" dirty="0">
                <a:solidFill>
                  <a:srgbClr val="695D46"/>
                </a:solidFill>
                <a:latin typeface="Open Sans" panose="020B0606030504020204" pitchFamily="34" charset="0"/>
                <a:ea typeface="Open Sans" panose="020B0606030504020204" pitchFamily="34" charset="0"/>
                <a:cs typeface="Open Sans" panose="020B0606030504020204" pitchFamily="34" charset="0"/>
              </a:rPr>
              <a:t>We repeated testing by country, anticipating that expanding our scope could yield different results and potentially lead to more definitive conclusions.</a:t>
            </a:r>
          </a:p>
          <a:p>
            <a:pPr marL="0" indent="0">
              <a:buNone/>
            </a:pPr>
            <a:r>
              <a:rPr lang="en-US" sz="1600" dirty="0">
                <a:solidFill>
                  <a:srgbClr val="695D46"/>
                </a:solidFill>
                <a:latin typeface="Open Sans" panose="020B0606030504020204" pitchFamily="34" charset="0"/>
                <a:ea typeface="Open Sans" panose="020B0606030504020204" pitchFamily="34" charset="0"/>
                <a:cs typeface="Open Sans" panose="020B0606030504020204" pitchFamily="34" charset="0"/>
              </a:rPr>
              <a:t>Additionally, we incorporated a 95% confidence interval in several of the plots.</a:t>
            </a:r>
          </a:p>
        </p:txBody>
      </p:sp>
      <p:pic>
        <p:nvPicPr>
          <p:cNvPr id="5" name="Picture 4" descr="A graph of a graph&#10;&#10;AI-generated content may be incorrect.">
            <a:extLst>
              <a:ext uri="{FF2B5EF4-FFF2-40B4-BE49-F238E27FC236}">
                <a16:creationId xmlns:a16="http://schemas.microsoft.com/office/drawing/2014/main" id="{DB91D1C1-996F-A8A9-D858-A177FC35D99D}"/>
              </a:ext>
            </a:extLst>
          </p:cNvPr>
          <p:cNvPicPr>
            <a:picLocks noChangeAspect="1"/>
          </p:cNvPicPr>
          <p:nvPr/>
        </p:nvPicPr>
        <p:blipFill>
          <a:blip r:embed="rId2"/>
          <a:stretch>
            <a:fillRect/>
          </a:stretch>
        </p:blipFill>
        <p:spPr>
          <a:xfrm>
            <a:off x="0" y="1849377"/>
            <a:ext cx="6437468" cy="3194370"/>
          </a:xfrm>
          <a:prstGeom prst="rect">
            <a:avLst/>
          </a:prstGeom>
        </p:spPr>
      </p:pic>
      <p:sp>
        <p:nvSpPr>
          <p:cNvPr id="8" name="TextBox 7">
            <a:extLst>
              <a:ext uri="{FF2B5EF4-FFF2-40B4-BE49-F238E27FC236}">
                <a16:creationId xmlns:a16="http://schemas.microsoft.com/office/drawing/2014/main" id="{DEAD456B-54C8-A2F4-7AA5-615690B8E535}"/>
              </a:ext>
            </a:extLst>
          </p:cNvPr>
          <p:cNvSpPr txBox="1"/>
          <p:nvPr/>
        </p:nvSpPr>
        <p:spPr>
          <a:xfrm>
            <a:off x="4661048" y="1771181"/>
            <a:ext cx="4482952" cy="276999"/>
          </a:xfrm>
          <a:prstGeom prst="rect">
            <a:avLst/>
          </a:prstGeom>
          <a:noFill/>
        </p:spPr>
        <p:txBody>
          <a:bodyPr wrap="square" rtlCol="1">
            <a:spAutoFit/>
          </a:bodyPr>
          <a:lstStyle/>
          <a:p>
            <a:endParaRPr lang="he-IL" sz="1200" dirty="0">
              <a:solidFill>
                <a:srgbClr val="695D46"/>
              </a:solidFill>
              <a:latin typeface="Open Sans" panose="020B0606030504020204" pitchFamily="34" charset="0"/>
              <a:ea typeface="Open Sans" panose="020B0606030504020204" pitchFamily="34" charset="0"/>
            </a:endParaRPr>
          </a:p>
        </p:txBody>
      </p:sp>
      <p:sp>
        <p:nvSpPr>
          <p:cNvPr id="10" name="Rectangle 2">
            <a:extLst>
              <a:ext uri="{FF2B5EF4-FFF2-40B4-BE49-F238E27FC236}">
                <a16:creationId xmlns:a16="http://schemas.microsoft.com/office/drawing/2014/main" id="{A8289E6B-AFC3-6DFF-F13F-93CE856EE477}"/>
              </a:ext>
            </a:extLst>
          </p:cNvPr>
          <p:cNvSpPr>
            <a:spLocks noChangeArrowheads="1"/>
          </p:cNvSpPr>
          <p:nvPr/>
        </p:nvSpPr>
        <p:spPr bwMode="auto">
          <a:xfrm>
            <a:off x="6363325" y="1873648"/>
            <a:ext cx="2878112" cy="3016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l" rtl="0" eaLnBrk="0" latinLnBrk="0" hangingPunct="0">
              <a:buNone/>
            </a:pPr>
            <a:r>
              <a:rPr lang="en-US" sz="1000" b="1" dirty="0">
                <a:solidFill>
                  <a:srgbClr val="695D46"/>
                </a:solidFill>
                <a:effectLst/>
                <a:latin typeface="Open Sans" panose="020B0606030504020204" pitchFamily="34" charset="0"/>
              </a:rPr>
              <a:t>Japan (JP, Lowest)</a:t>
            </a:r>
            <a:endParaRPr lang="en-US" sz="1000" dirty="0">
              <a:solidFill>
                <a:srgbClr val="695D46"/>
              </a:solidFill>
              <a:effectLst/>
              <a:latin typeface="Open Sans" panose="020B0606030504020204" pitchFamily="34" charset="0"/>
            </a:endParaRPr>
          </a:p>
          <a:p>
            <a:pPr marL="0" indent="0" algn="l" rtl="0" eaLnBrk="0" latinLnBrk="0" hangingPunct="0">
              <a:buFont typeface="Arial" panose="020B0604020202020204" pitchFamily="34" charset="0"/>
              <a:buChar char="•"/>
            </a:pPr>
            <a:r>
              <a:rPr lang="en-US" sz="1000" dirty="0">
                <a:solidFill>
                  <a:srgbClr val="695D46"/>
                </a:solidFill>
                <a:effectLst/>
                <a:latin typeface="Open Sans" panose="020B0606030504020204" pitchFamily="34" charset="0"/>
              </a:rPr>
              <a:t>Cultural norms emphasize indirect communication and emotional restraint</a:t>
            </a:r>
          </a:p>
          <a:p>
            <a:pPr marL="0" indent="0" algn="l" rtl="0" eaLnBrk="0" latinLnBrk="0" hangingPunct="0">
              <a:buFont typeface="Arial" panose="020B0604020202020204" pitchFamily="34" charset="0"/>
              <a:buChar char="•"/>
            </a:pPr>
            <a:r>
              <a:rPr lang="en-US" sz="1000" dirty="0">
                <a:solidFill>
                  <a:srgbClr val="695D46"/>
                </a:solidFill>
                <a:effectLst/>
                <a:latin typeface="Open Sans" panose="020B0606030504020204" pitchFamily="34" charset="0"/>
              </a:rPr>
              <a:t>A demanding work environment reduces opportunities for family interaction</a:t>
            </a:r>
          </a:p>
          <a:p>
            <a:pPr marL="0" indent="0" algn="l" rtl="0" eaLnBrk="0" latinLnBrk="0" hangingPunct="0">
              <a:buFont typeface="Arial" panose="020B0604020202020204" pitchFamily="34" charset="0"/>
              <a:buChar char="•"/>
            </a:pPr>
            <a:endParaRPr lang="en-US" sz="1000" dirty="0">
              <a:solidFill>
                <a:srgbClr val="695D46"/>
              </a:solidFill>
              <a:effectLst/>
              <a:latin typeface="Open Sans" panose="020B0606030504020204" pitchFamily="34" charset="0"/>
            </a:endParaRPr>
          </a:p>
          <a:p>
            <a:pPr marL="0" indent="0" algn="l" rtl="0" eaLnBrk="0" latinLnBrk="0" hangingPunct="0">
              <a:buNone/>
            </a:pPr>
            <a:r>
              <a:rPr lang="en-US" sz="1000" b="1" dirty="0">
                <a:solidFill>
                  <a:srgbClr val="695D46"/>
                </a:solidFill>
                <a:effectLst/>
                <a:latin typeface="Open Sans" panose="020B0606030504020204" pitchFamily="34" charset="0"/>
              </a:rPr>
              <a:t>Finland (FI, Second-Lowest)</a:t>
            </a:r>
            <a:endParaRPr lang="en-US" sz="1000" dirty="0">
              <a:solidFill>
                <a:srgbClr val="695D46"/>
              </a:solidFill>
              <a:effectLst/>
              <a:latin typeface="Open Sans" panose="020B0606030504020204" pitchFamily="34" charset="0"/>
            </a:endParaRPr>
          </a:p>
          <a:p>
            <a:pPr marL="0" indent="0" algn="l" rtl="0" eaLnBrk="0" latinLnBrk="0" hangingPunct="0">
              <a:buFont typeface="Arial" panose="020B0604020202020204" pitchFamily="34" charset="0"/>
              <a:buChar char="•"/>
            </a:pPr>
            <a:r>
              <a:rPr lang="en-US" sz="1000" dirty="0">
                <a:solidFill>
                  <a:srgbClr val="695D46"/>
                </a:solidFill>
                <a:effectLst/>
                <a:latin typeface="Open Sans" panose="020B0606030504020204" pitchFamily="34" charset="0"/>
              </a:rPr>
              <a:t>Cultural values prioritize independence and self-reliance</a:t>
            </a:r>
          </a:p>
          <a:p>
            <a:pPr marL="0" indent="0" algn="l" rtl="0" eaLnBrk="0" latinLnBrk="0" hangingPunct="0">
              <a:buFont typeface="Arial" panose="020B0604020202020204" pitchFamily="34" charset="0"/>
              <a:buChar char="•"/>
            </a:pPr>
            <a:r>
              <a:rPr lang="en-US" sz="1000" dirty="0">
                <a:solidFill>
                  <a:srgbClr val="695D46"/>
                </a:solidFill>
                <a:effectLst/>
                <a:latin typeface="Open Sans" panose="020B0606030504020204" pitchFamily="34" charset="0"/>
              </a:rPr>
              <a:t>Preference for personal space and a reserved communication style</a:t>
            </a:r>
          </a:p>
          <a:p>
            <a:pPr marL="0" indent="0" algn="l" rtl="0" eaLnBrk="0" latinLnBrk="0" hangingPunct="0">
              <a:buFont typeface="Arial" panose="020B0604020202020204" pitchFamily="34" charset="0"/>
              <a:buChar char="•"/>
            </a:pPr>
            <a:endParaRPr lang="en-US" sz="1000" dirty="0">
              <a:solidFill>
                <a:srgbClr val="695D46"/>
              </a:solidFill>
              <a:effectLst/>
              <a:latin typeface="Open Sans" panose="020B0606030504020204" pitchFamily="34" charset="0"/>
            </a:endParaRPr>
          </a:p>
          <a:p>
            <a:pPr marL="0" indent="0" algn="l" rtl="0" eaLnBrk="0" latinLnBrk="0" hangingPunct="0">
              <a:buNone/>
            </a:pPr>
            <a:r>
              <a:rPr lang="en-US" sz="1000" b="1" dirty="0">
                <a:solidFill>
                  <a:srgbClr val="695D46"/>
                </a:solidFill>
                <a:effectLst/>
                <a:latin typeface="Open Sans" panose="020B0606030504020204" pitchFamily="34" charset="0"/>
              </a:rPr>
              <a:t>Spain (ES, Highest)</a:t>
            </a:r>
            <a:endParaRPr lang="en-US" sz="1000" dirty="0">
              <a:solidFill>
                <a:srgbClr val="695D46"/>
              </a:solidFill>
              <a:effectLst/>
              <a:latin typeface="Open Sans" panose="020B0606030504020204" pitchFamily="34" charset="0"/>
            </a:endParaRPr>
          </a:p>
          <a:p>
            <a:pPr marL="0" indent="0" algn="l" rtl="0" eaLnBrk="0" latinLnBrk="0" hangingPunct="0">
              <a:buFont typeface="Arial" panose="020B0604020202020204" pitchFamily="34" charset="0"/>
              <a:buChar char="•"/>
            </a:pPr>
            <a:r>
              <a:rPr lang="en-US" sz="1000" dirty="0">
                <a:solidFill>
                  <a:srgbClr val="695D46"/>
                </a:solidFill>
                <a:effectLst/>
                <a:latin typeface="Open Sans" panose="020B0606030504020204" pitchFamily="34" charset="0"/>
              </a:rPr>
              <a:t>Strong emphasis on close family ties and multi-generational living</a:t>
            </a:r>
          </a:p>
          <a:p>
            <a:pPr marL="0" indent="0" algn="l" rtl="0" eaLnBrk="0" latinLnBrk="0" hangingPunct="0">
              <a:buFont typeface="Arial" panose="020B0604020202020204" pitchFamily="34" charset="0"/>
              <a:buChar char="•"/>
            </a:pPr>
            <a:r>
              <a:rPr lang="en-US" sz="1000" dirty="0">
                <a:solidFill>
                  <a:srgbClr val="695D46"/>
                </a:solidFill>
                <a:effectLst/>
                <a:latin typeface="Open Sans" panose="020B0606030504020204" pitchFamily="34" charset="0"/>
              </a:rPr>
              <a:t>More expressive, communicative, and collectivist cultural values</a:t>
            </a:r>
          </a:p>
          <a:p>
            <a:pPr marL="0" indent="0" algn="l" rtl="0" eaLnBrk="0" latinLnBrk="0" hangingPunct="0">
              <a:buFont typeface="Arial" panose="020B0604020202020204" pitchFamily="34" charset="0"/>
              <a:buChar char="•"/>
            </a:pPr>
            <a:r>
              <a:rPr lang="en-US" sz="1000" dirty="0">
                <a:solidFill>
                  <a:srgbClr val="695D46"/>
                </a:solidFill>
                <a:effectLst/>
                <a:latin typeface="Open Sans" panose="020B0606030504020204" pitchFamily="34" charset="0"/>
              </a:rPr>
              <a:t>Traditions include frequent family gatherings and social interactions</a:t>
            </a:r>
          </a:p>
        </p:txBody>
      </p:sp>
    </p:spTree>
    <p:extLst>
      <p:ext uri="{BB962C8B-B14F-4D97-AF65-F5344CB8AC3E}">
        <p14:creationId xmlns:p14="http://schemas.microsoft.com/office/powerpoint/2010/main" val="26705655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aph of blue dots&#10;&#10;AI-generated content may be incorrect.">
            <a:extLst>
              <a:ext uri="{FF2B5EF4-FFF2-40B4-BE49-F238E27FC236}">
                <a16:creationId xmlns:a16="http://schemas.microsoft.com/office/drawing/2014/main" id="{0AFF11EA-0521-1149-EA0D-34C90B15338A}"/>
              </a:ext>
            </a:extLst>
          </p:cNvPr>
          <p:cNvPicPr>
            <a:picLocks noChangeAspect="1"/>
          </p:cNvPicPr>
          <p:nvPr/>
        </p:nvPicPr>
        <p:blipFill>
          <a:blip r:embed="rId2"/>
          <a:stretch>
            <a:fillRect/>
          </a:stretch>
        </p:blipFill>
        <p:spPr>
          <a:xfrm>
            <a:off x="3889947" y="2432364"/>
            <a:ext cx="5254051" cy="2607140"/>
          </a:xfrm>
          <a:prstGeom prst="rect">
            <a:avLst/>
          </a:prstGeom>
        </p:spPr>
      </p:pic>
      <p:pic>
        <p:nvPicPr>
          <p:cNvPr id="5" name="Picture 4" descr="A graph of blue lines&#10;&#10;AI-generated content may be incorrect.">
            <a:extLst>
              <a:ext uri="{FF2B5EF4-FFF2-40B4-BE49-F238E27FC236}">
                <a16:creationId xmlns:a16="http://schemas.microsoft.com/office/drawing/2014/main" id="{6D7BBBD2-532D-BE73-D5FA-496D9AA9A39A}"/>
              </a:ext>
            </a:extLst>
          </p:cNvPr>
          <p:cNvPicPr>
            <a:picLocks noChangeAspect="1"/>
          </p:cNvPicPr>
          <p:nvPr/>
        </p:nvPicPr>
        <p:blipFill>
          <a:blip r:embed="rId3"/>
          <a:stretch>
            <a:fillRect/>
          </a:stretch>
        </p:blipFill>
        <p:spPr>
          <a:xfrm>
            <a:off x="0" y="0"/>
            <a:ext cx="4464170" cy="2571750"/>
          </a:xfrm>
          <a:prstGeom prst="rect">
            <a:avLst/>
          </a:prstGeom>
        </p:spPr>
      </p:pic>
      <p:sp>
        <p:nvSpPr>
          <p:cNvPr id="8" name="TextBox 7">
            <a:extLst>
              <a:ext uri="{FF2B5EF4-FFF2-40B4-BE49-F238E27FC236}">
                <a16:creationId xmlns:a16="http://schemas.microsoft.com/office/drawing/2014/main" id="{726D9CC4-69D0-D41E-DDD4-852C3C1A61A5}"/>
              </a:ext>
            </a:extLst>
          </p:cNvPr>
          <p:cNvSpPr txBox="1"/>
          <p:nvPr/>
        </p:nvSpPr>
        <p:spPr>
          <a:xfrm>
            <a:off x="4464170" y="374754"/>
            <a:ext cx="4706062" cy="1107996"/>
          </a:xfrm>
          <a:prstGeom prst="rect">
            <a:avLst/>
          </a:prstGeom>
          <a:noFill/>
        </p:spPr>
        <p:txBody>
          <a:bodyPr wrap="square" rtlCol="1">
            <a:spAutoFit/>
          </a:bodyPr>
          <a:lstStyle/>
          <a:p>
            <a:r>
              <a:rPr lang="en-US" sz="1100" dirty="0">
                <a:solidFill>
                  <a:srgbClr val="695D46"/>
                </a:solidFill>
                <a:effectLst/>
                <a:latin typeface="Open Sans" panose="020B0606030504020204" pitchFamily="34" charset="0"/>
                <a:ea typeface="Open Sans" panose="020B0606030504020204" pitchFamily="34" charset="0"/>
                <a:cs typeface="Open Sans" panose="020B0606030504020204" pitchFamily="34" charset="0"/>
              </a:rPr>
              <a:t>As illustrated, this graph exhibits the greatest variance in mean values,</a:t>
            </a:r>
          </a:p>
          <a:p>
            <a:r>
              <a:rPr lang="en-US" sz="1100" dirty="0">
                <a:solidFill>
                  <a:srgbClr val="695D46"/>
                </a:solidFill>
                <a:effectLst/>
                <a:latin typeface="Open Sans" panose="020B0606030504020204" pitchFamily="34" charset="0"/>
                <a:ea typeface="Open Sans" panose="020B0606030504020204" pitchFamily="34" charset="0"/>
                <a:cs typeface="Open Sans" panose="020B0606030504020204" pitchFamily="34" charset="0"/>
              </a:rPr>
              <a:t> with Japan maintaining the lowest mean while Spain ranks among the highest. </a:t>
            </a:r>
          </a:p>
          <a:p>
            <a:r>
              <a:rPr lang="en-US" sz="1100" dirty="0">
                <a:solidFill>
                  <a:srgbClr val="695D46"/>
                </a:solidFill>
                <a:effectLst/>
                <a:latin typeface="Open Sans" panose="020B0606030504020204" pitchFamily="34" charset="0"/>
                <a:ea typeface="Open Sans" panose="020B0606030504020204" pitchFamily="34" charset="0"/>
                <a:cs typeface="Open Sans" panose="020B0606030504020204" pitchFamily="34" charset="0"/>
              </a:rPr>
              <a:t>These differences can be attributed to the factors previously discussed.</a:t>
            </a:r>
            <a:endParaRPr lang="he-IL" sz="1100" dirty="0">
              <a:solidFill>
                <a:srgbClr val="695D46"/>
              </a:solidFill>
              <a:latin typeface="Open Sans" panose="020B0606030504020204" pitchFamily="34" charset="0"/>
              <a:ea typeface="Open Sans" panose="020B0606030504020204" pitchFamily="34" charset="0"/>
            </a:endParaRPr>
          </a:p>
        </p:txBody>
      </p:sp>
      <p:sp>
        <p:nvSpPr>
          <p:cNvPr id="15" name="Rectangle 5">
            <a:extLst>
              <a:ext uri="{FF2B5EF4-FFF2-40B4-BE49-F238E27FC236}">
                <a16:creationId xmlns:a16="http://schemas.microsoft.com/office/drawing/2014/main" id="{E6B5D1B3-0D88-1626-872C-7F3A40D0C5D1}"/>
              </a:ext>
            </a:extLst>
          </p:cNvPr>
          <p:cNvSpPr>
            <a:spLocks noChangeArrowheads="1"/>
          </p:cNvSpPr>
          <p:nvPr/>
        </p:nvSpPr>
        <p:spPr bwMode="auto">
          <a:xfrm>
            <a:off x="0" y="2432364"/>
            <a:ext cx="4076700"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he-IL" altLang="he-IL" sz="1100" b="0" i="0" u="none" strike="noStrike" cap="none" normalizeH="0" baseline="0" dirty="0">
              <a:ln>
                <a:noFill/>
              </a:ln>
              <a:solidFill>
                <a:srgbClr val="695D46"/>
              </a:solidFill>
              <a:effectLst/>
              <a:latin typeface="Open Sans" panose="020B0606030504020204" pitchFamily="34" charset="0"/>
              <a:ea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he-IL" altLang="he-IL" sz="1100" b="0" i="0" u="none" strike="noStrike" cap="none" normalizeH="0" baseline="0" dirty="0">
                <a:ln>
                  <a:noFill/>
                </a:ln>
                <a:solidFill>
                  <a:srgbClr val="695D46"/>
                </a:solidFill>
                <a:effectLst/>
                <a:latin typeface="Open Sans" panose="020B0606030504020204" pitchFamily="34" charset="0"/>
                <a:ea typeface="Open Sans" panose="020B0606030504020204" pitchFamily="34" charset="0"/>
              </a:rPr>
              <a:t> Most countries cluster around similar loneliness means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he-IL" altLang="he-IL" sz="1100" b="0" i="0" u="none" strike="noStrike" cap="none" normalizeH="0" baseline="0" dirty="0">
                <a:ln>
                  <a:noFill/>
                </a:ln>
                <a:solidFill>
                  <a:srgbClr val="695D46"/>
                </a:solidFill>
                <a:effectLst/>
                <a:latin typeface="Open Sans" panose="020B0606030504020204" pitchFamily="34" charset="0"/>
                <a:ea typeface="Open Sans" panose="020B0606030504020204" pitchFamily="34" charset="0"/>
              </a:rPr>
              <a:t> India and Japan emerge as notable outliers</a:t>
            </a:r>
          </a:p>
          <a:p>
            <a:pPr marL="0" marR="0" lvl="0" indent="0" algn="l" defTabSz="914400" rtl="0" eaLnBrk="0" fontAlgn="base" latinLnBrk="0" hangingPunct="0">
              <a:lnSpc>
                <a:spcPct val="100000"/>
              </a:lnSpc>
              <a:spcBef>
                <a:spcPct val="0"/>
              </a:spcBef>
              <a:spcAft>
                <a:spcPct val="0"/>
              </a:spcAft>
              <a:buClrTx/>
              <a:buSzTx/>
              <a:tabLst/>
            </a:pPr>
            <a:endParaRPr lang="en-US" altLang="he-IL" sz="1100" dirty="0">
              <a:solidFill>
                <a:srgbClr val="695D46"/>
              </a:solidFill>
              <a:latin typeface="Open Sans" panose="020B0606030504020204" pitchFamily="34" charset="0"/>
              <a:ea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he-IL" sz="1100" b="0" i="0" u="none" strike="noStrike" cap="none" normalizeH="0" baseline="0" dirty="0">
                <a:ln>
                  <a:noFill/>
                </a:ln>
                <a:solidFill>
                  <a:srgbClr val="695D46"/>
                </a:solidFill>
                <a:effectLst/>
                <a:latin typeface="Open Sans" panose="020B0606030504020204" pitchFamily="34" charset="0"/>
                <a:ea typeface="Open Sans" panose="020B0606030504020204" pitchFamily="34" charset="0"/>
              </a:rPr>
              <a:t>India (Surprising Outlier - High Loneliness) Contradicts expectations given strong collectivist values and tight family/community structures (similar to Spain)</a:t>
            </a:r>
          </a:p>
          <a:p>
            <a:pPr marL="0" marR="0" lvl="0" indent="0" algn="l" defTabSz="914400" rtl="0" eaLnBrk="0" fontAlgn="base" latinLnBrk="0" hangingPunct="0">
              <a:lnSpc>
                <a:spcPct val="100000"/>
              </a:lnSpc>
              <a:spcBef>
                <a:spcPct val="0"/>
              </a:spcBef>
              <a:spcAft>
                <a:spcPct val="0"/>
              </a:spcAft>
              <a:buClrTx/>
              <a:buSzTx/>
              <a:tabLst/>
            </a:pPr>
            <a:endParaRPr lang="en-US" altLang="he-IL" sz="1100" dirty="0">
              <a:solidFill>
                <a:srgbClr val="695D46"/>
              </a:solidFill>
              <a:latin typeface="Open Sans" panose="020B0606030504020204" pitchFamily="34" charset="0"/>
              <a:ea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he-IL" sz="1100" b="0" i="0" u="none" strike="noStrike" cap="none" normalizeH="0" baseline="0" dirty="0">
                <a:ln>
                  <a:noFill/>
                </a:ln>
                <a:solidFill>
                  <a:srgbClr val="695D46"/>
                </a:solidFill>
                <a:effectLst/>
                <a:latin typeface="Open Sans" panose="020B0606030504020204" pitchFamily="34" charset="0"/>
                <a:ea typeface="Open Sans" panose="020B0606030504020204" pitchFamily="34" charset="0"/>
              </a:rPr>
              <a:t>Japan (Interesting Paradox) Lowest communication frequency with family and friends, Yet exhibits one of the lower loneliness means</a:t>
            </a:r>
            <a:r>
              <a:rPr kumimoji="0" lang="he-IL" altLang="he-IL" sz="1100" b="0" i="0" u="none" strike="noStrike" cap="none" normalizeH="0" baseline="0" dirty="0">
                <a:ln>
                  <a:noFill/>
                </a:ln>
                <a:solidFill>
                  <a:srgbClr val="695D46"/>
                </a:solidFill>
                <a:effectLst/>
                <a:latin typeface="Open Sans" panose="020B0606030504020204" pitchFamily="34" charset="0"/>
                <a:ea typeface="Open Sans" panose="020B0606030504020204" pitchFamily="34" charset="0"/>
              </a:rPr>
              <a:t> </a:t>
            </a:r>
          </a:p>
          <a:p>
            <a:pPr marL="0" marR="0" lvl="0" indent="0" algn="l" defTabSz="914400" rtl="0" eaLnBrk="0" fontAlgn="base" latinLnBrk="0" hangingPunct="0">
              <a:lnSpc>
                <a:spcPct val="100000"/>
              </a:lnSpc>
              <a:spcBef>
                <a:spcPct val="0"/>
              </a:spcBef>
              <a:spcAft>
                <a:spcPct val="0"/>
              </a:spcAft>
              <a:buClrTx/>
              <a:buSzTx/>
              <a:tabLst/>
            </a:pPr>
            <a:endParaRPr lang="he-IL" altLang="he-IL" sz="1100" dirty="0">
              <a:solidFill>
                <a:srgbClr val="695D46"/>
              </a:solidFill>
              <a:latin typeface="Open Sans" panose="020B0606030504020204" pitchFamily="34" charset="0"/>
              <a:ea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he-IL" sz="1100" b="0" i="0" u="none" strike="noStrike" cap="none" normalizeH="0" baseline="0" dirty="0">
                <a:ln>
                  <a:noFill/>
                </a:ln>
                <a:solidFill>
                  <a:srgbClr val="695D46"/>
                </a:solidFill>
                <a:effectLst/>
                <a:latin typeface="Open Sans" panose="020B0606030504020204" pitchFamily="34" charset="0"/>
                <a:ea typeface="Open Sans" panose="020B0606030504020204" pitchFamily="34" charset="0"/>
              </a:rPr>
              <a:t>Emphasizes our general conclusion that loneliness is highly subjective and not directly correlated with communication frequency</a:t>
            </a:r>
            <a:r>
              <a:rPr lang="en-US" altLang="he-IL" sz="1100" dirty="0">
                <a:solidFill>
                  <a:srgbClr val="695D46"/>
                </a:solidFill>
                <a:latin typeface="Open Sans" panose="020B0606030504020204" pitchFamily="34" charset="0"/>
                <a:ea typeface="Open Sans" panose="020B0606030504020204" pitchFamily="34" charset="0"/>
              </a:rPr>
              <a:t>.</a:t>
            </a:r>
            <a:endParaRPr kumimoji="0" lang="he-IL" altLang="he-IL" sz="1100" b="0" i="0" u="none" strike="noStrike" cap="none" normalizeH="0" baseline="0" dirty="0">
              <a:ln>
                <a:noFill/>
              </a:ln>
              <a:solidFill>
                <a:srgbClr val="695D46"/>
              </a:solidFill>
              <a:effectLst/>
              <a:latin typeface="Open Sans" panose="020B0606030504020204" pitchFamily="34" charset="0"/>
              <a:ea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he-IL" altLang="he-IL" sz="1100" b="0" i="0" u="none" strike="noStrike" cap="none" normalizeH="0" baseline="0" dirty="0">
              <a:ln>
                <a:noFill/>
              </a:ln>
              <a:solidFill>
                <a:srgbClr val="695D46"/>
              </a:solidFill>
              <a:effectLst/>
              <a:latin typeface="Open Sans" panose="020B0606030504020204" pitchFamily="34" charset="0"/>
              <a:ea typeface="Open Sans" panose="020B0606030504020204" pitchFamily="34" charset="0"/>
            </a:endParaRPr>
          </a:p>
        </p:txBody>
      </p:sp>
    </p:spTree>
    <p:extLst>
      <p:ext uri="{BB962C8B-B14F-4D97-AF65-F5344CB8AC3E}">
        <p14:creationId xmlns:p14="http://schemas.microsoft.com/office/powerpoint/2010/main" val="273490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B2986-9C06-68B1-1575-70B3B5307B02}"/>
              </a:ext>
            </a:extLst>
          </p:cNvPr>
          <p:cNvSpPr>
            <a:spLocks noGrp="1"/>
          </p:cNvSpPr>
          <p:nvPr>
            <p:ph type="title"/>
          </p:nvPr>
        </p:nvSpPr>
        <p:spPr>
          <a:xfrm>
            <a:off x="0" y="32838"/>
            <a:ext cx="8519400" cy="706320"/>
          </a:xfrm>
        </p:spPr>
        <p:txBody>
          <a:bodyPr>
            <a:normAutofit/>
          </a:bodyPr>
          <a:lstStyle/>
          <a:p>
            <a:r>
              <a:rPr lang="en-US" sz="3600" b="1" u="none" strike="noStrike" dirty="0">
                <a:solidFill>
                  <a:schemeClr val="accent1"/>
                </a:solidFill>
                <a:effectLst/>
                <a:uFillTx/>
                <a:latin typeface="PT Sans Narrow"/>
                <a:ea typeface="PT Sans Narrow"/>
              </a:rPr>
              <a:t> Further tests</a:t>
            </a:r>
            <a:endParaRPr lang="he-IL" sz="3600" dirty="0"/>
          </a:p>
        </p:txBody>
      </p:sp>
      <p:sp>
        <p:nvSpPr>
          <p:cNvPr id="3" name="Text Placeholder 2">
            <a:extLst>
              <a:ext uri="{FF2B5EF4-FFF2-40B4-BE49-F238E27FC236}">
                <a16:creationId xmlns:a16="http://schemas.microsoft.com/office/drawing/2014/main" id="{C695CDE1-262F-6179-B2A5-DF46088FF226}"/>
              </a:ext>
            </a:extLst>
          </p:cNvPr>
          <p:cNvSpPr>
            <a:spLocks noGrp="1"/>
          </p:cNvSpPr>
          <p:nvPr>
            <p:ph type="body"/>
          </p:nvPr>
        </p:nvSpPr>
        <p:spPr>
          <a:xfrm>
            <a:off x="207369" y="623029"/>
            <a:ext cx="8729262" cy="1100840"/>
          </a:xfrm>
        </p:spPr>
        <p:txBody>
          <a:bodyPr>
            <a:normAutofit fontScale="92500" lnSpcReduction="10000"/>
          </a:bodyPr>
          <a:lstStyle/>
          <a:p>
            <a:pPr marL="0" indent="0" algn="l" rtl="0" eaLnBrk="1" latinLnBrk="0" hangingPunct="1">
              <a:lnSpc>
                <a:spcPct val="90000"/>
              </a:lnSpc>
              <a:spcBef>
                <a:spcPts val="1200"/>
              </a:spcBef>
              <a:buNone/>
            </a:pPr>
            <a:r>
              <a:rPr lang="en-US" sz="1600" dirty="0">
                <a:solidFill>
                  <a:srgbClr val="695D46"/>
                </a:solidFill>
                <a:effectLst/>
                <a:latin typeface="Open Sans" panose="020B0606030504020204" pitchFamily="34" charset="0"/>
              </a:rPr>
              <a:t>We started by analyzing the average values of our metrics across different age groups, incorporating 95% confidence intervals to gain deeper insight into possible trends.</a:t>
            </a:r>
          </a:p>
          <a:p>
            <a:pPr marL="0" indent="0" algn="l" rtl="0" eaLnBrk="1" latinLnBrk="0" hangingPunct="1">
              <a:lnSpc>
                <a:spcPct val="90000"/>
              </a:lnSpc>
              <a:spcBef>
                <a:spcPts val="1200"/>
              </a:spcBef>
              <a:buNone/>
            </a:pPr>
            <a:r>
              <a:rPr lang="en-US" sz="1600" dirty="0">
                <a:solidFill>
                  <a:srgbClr val="695D46"/>
                </a:solidFill>
                <a:effectLst/>
                <a:latin typeface="Open Sans" panose="020B0606030504020204" pitchFamily="34" charset="0"/>
              </a:rPr>
              <a:t>The following is the final combined plot displaying the means of all three metrics to examine potential correlations.</a:t>
            </a:r>
            <a:endParaRPr lang="he-IL" sz="1600" dirty="0">
              <a:solidFill>
                <a:srgbClr val="020605"/>
              </a:solidFill>
            </a:endParaRPr>
          </a:p>
        </p:txBody>
      </p:sp>
      <p:sp>
        <p:nvSpPr>
          <p:cNvPr id="6" name="TextBox 5">
            <a:extLst>
              <a:ext uri="{FF2B5EF4-FFF2-40B4-BE49-F238E27FC236}">
                <a16:creationId xmlns:a16="http://schemas.microsoft.com/office/drawing/2014/main" id="{408541EE-516E-243B-DBFC-6822B6A043FC}"/>
              </a:ext>
            </a:extLst>
          </p:cNvPr>
          <p:cNvSpPr txBox="1"/>
          <p:nvPr/>
        </p:nvSpPr>
        <p:spPr>
          <a:xfrm>
            <a:off x="6606747" y="4474564"/>
            <a:ext cx="2537253" cy="584775"/>
          </a:xfrm>
          <a:prstGeom prst="rect">
            <a:avLst/>
          </a:prstGeom>
          <a:noFill/>
        </p:spPr>
        <p:txBody>
          <a:bodyPr wrap="square" rtlCol="1">
            <a:spAutoFit/>
          </a:bodyPr>
          <a:lstStyle/>
          <a:p>
            <a:r>
              <a:rPr lang="en-US" sz="800" dirty="0">
                <a:solidFill>
                  <a:srgbClr val="020605"/>
                </a:solidFill>
                <a:effectLst/>
                <a:latin typeface="Arial" panose="020B0604020202020204" pitchFamily="34" charset="0"/>
              </a:rPr>
              <a:t>* It is important to note that we initially evaluated a Trust metric; however, we discontinued its use because it did not demonstrate significant correlations with any of our other metrics.</a:t>
            </a:r>
            <a:endParaRPr lang="he-IL" sz="800" dirty="0">
              <a:solidFill>
                <a:srgbClr val="020605"/>
              </a:solidFill>
            </a:endParaRPr>
          </a:p>
        </p:txBody>
      </p:sp>
      <p:pic>
        <p:nvPicPr>
          <p:cNvPr id="8" name="Picture 7" descr="A graph with colorful dots&#10;&#10;AI-generated content may be incorrect.">
            <a:extLst>
              <a:ext uri="{FF2B5EF4-FFF2-40B4-BE49-F238E27FC236}">
                <a16:creationId xmlns:a16="http://schemas.microsoft.com/office/drawing/2014/main" id="{24C22E8A-C457-8A54-B38E-1BFEEE152B73}"/>
              </a:ext>
            </a:extLst>
          </p:cNvPr>
          <p:cNvPicPr>
            <a:picLocks noChangeAspect="1"/>
          </p:cNvPicPr>
          <p:nvPr/>
        </p:nvPicPr>
        <p:blipFill>
          <a:blip r:embed="rId2"/>
          <a:stretch>
            <a:fillRect/>
          </a:stretch>
        </p:blipFill>
        <p:spPr>
          <a:xfrm>
            <a:off x="0" y="1618938"/>
            <a:ext cx="6606747" cy="3431872"/>
          </a:xfrm>
          <a:prstGeom prst="rect">
            <a:avLst/>
          </a:prstGeom>
        </p:spPr>
      </p:pic>
      <p:sp>
        <p:nvSpPr>
          <p:cNvPr id="9" name="TextBox 8">
            <a:extLst>
              <a:ext uri="{FF2B5EF4-FFF2-40B4-BE49-F238E27FC236}">
                <a16:creationId xmlns:a16="http://schemas.microsoft.com/office/drawing/2014/main" id="{8AF7D6B7-4A23-7CCF-C378-BE8DCCFEA1E7}"/>
              </a:ext>
            </a:extLst>
          </p:cNvPr>
          <p:cNvSpPr txBox="1"/>
          <p:nvPr/>
        </p:nvSpPr>
        <p:spPr>
          <a:xfrm>
            <a:off x="6678118" y="1776335"/>
            <a:ext cx="2263515" cy="2031325"/>
          </a:xfrm>
          <a:prstGeom prst="rect">
            <a:avLst/>
          </a:prstGeom>
          <a:noFill/>
        </p:spPr>
        <p:txBody>
          <a:bodyPr wrap="square" rtlCol="1">
            <a:spAutoFit/>
          </a:bodyPr>
          <a:lstStyle/>
          <a:p>
            <a:r>
              <a:rPr lang="en-US" sz="1400" dirty="0">
                <a:solidFill>
                  <a:srgbClr val="695D46"/>
                </a:solidFill>
                <a:effectLst/>
                <a:latin typeface="Open Sans" panose="020B0606030504020204" pitchFamily="34" charset="0"/>
              </a:rPr>
              <a:t>As observed, the confidence intervals are quite narrow around the means, except for the small group of respondents aged over 100. </a:t>
            </a:r>
          </a:p>
          <a:p>
            <a:r>
              <a:rPr lang="en-US" sz="1400" dirty="0">
                <a:solidFill>
                  <a:srgbClr val="695D46"/>
                </a:solidFill>
                <a:effectLst/>
                <a:latin typeface="Open Sans" panose="020B0606030504020204" pitchFamily="34" charset="0"/>
              </a:rPr>
              <a:t>(Indeed, one respondent is 103 years old!)</a:t>
            </a:r>
            <a:endParaRPr lang="he-IL" sz="1400" dirty="0">
              <a:solidFill>
                <a:srgbClr val="695D46"/>
              </a:solidFill>
              <a:latin typeface="Open Sans" panose="020B0606030504020204" pitchFamily="34" charset="0"/>
              <a:ea typeface="Open Sans" panose="020B0606030504020204" pitchFamily="34" charset="0"/>
            </a:endParaRPr>
          </a:p>
        </p:txBody>
      </p:sp>
    </p:spTree>
    <p:extLst>
      <p:ext uri="{BB962C8B-B14F-4D97-AF65-F5344CB8AC3E}">
        <p14:creationId xmlns:p14="http://schemas.microsoft.com/office/powerpoint/2010/main" val="18035657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53203-AAAB-4697-4C9D-F27215415DAD}"/>
              </a:ext>
            </a:extLst>
          </p:cNvPr>
          <p:cNvSpPr>
            <a:spLocks noGrp="1"/>
          </p:cNvSpPr>
          <p:nvPr>
            <p:ph type="title"/>
          </p:nvPr>
        </p:nvSpPr>
        <p:spPr>
          <a:xfrm>
            <a:off x="218437" y="65673"/>
            <a:ext cx="8519400" cy="706320"/>
          </a:xfrm>
        </p:spPr>
        <p:txBody>
          <a:bodyPr>
            <a:normAutofit fontScale="90000"/>
          </a:bodyPr>
          <a:lstStyle/>
          <a:p>
            <a:r>
              <a:rPr lang="en-US" b="1" dirty="0">
                <a:solidFill>
                  <a:schemeClr val="accent1"/>
                </a:solidFill>
                <a:latin typeface="PT Sans Narrow"/>
                <a:ea typeface="PT Sans Narrow"/>
              </a:rPr>
              <a:t>Further conclusions</a:t>
            </a:r>
            <a:endParaRPr lang="he-IL" dirty="0"/>
          </a:p>
        </p:txBody>
      </p:sp>
      <p:sp>
        <p:nvSpPr>
          <p:cNvPr id="3" name="Text Placeholder 2">
            <a:extLst>
              <a:ext uri="{FF2B5EF4-FFF2-40B4-BE49-F238E27FC236}">
                <a16:creationId xmlns:a16="http://schemas.microsoft.com/office/drawing/2014/main" id="{08CFAF28-CF64-11FC-C2CD-B8C78E1C18DB}"/>
              </a:ext>
            </a:extLst>
          </p:cNvPr>
          <p:cNvSpPr>
            <a:spLocks noGrp="1"/>
          </p:cNvSpPr>
          <p:nvPr>
            <p:ph type="body"/>
          </p:nvPr>
        </p:nvSpPr>
        <p:spPr>
          <a:xfrm>
            <a:off x="218437" y="771993"/>
            <a:ext cx="8993019" cy="4101684"/>
          </a:xfrm>
        </p:spPr>
        <p:txBody>
          <a:bodyPr>
            <a:normAutofit/>
          </a:bodyPr>
          <a:lstStyle/>
          <a:p>
            <a:pPr marL="0" indent="0" algn="l" rtl="0" eaLnBrk="1" latinLnBrk="0" hangingPunct="1">
              <a:lnSpc>
                <a:spcPct val="90000"/>
              </a:lnSpc>
              <a:spcBef>
                <a:spcPts val="1000"/>
              </a:spcBef>
              <a:buNone/>
            </a:pPr>
            <a:r>
              <a:rPr lang="en-US" sz="1600" dirty="0">
                <a:solidFill>
                  <a:srgbClr val="695D46"/>
                </a:solidFill>
                <a:effectLst/>
                <a:latin typeface="Open Sans" panose="020B0606030504020204" pitchFamily="34" charset="0"/>
                <a:ea typeface="Open Sans" panose="020B0606030504020204" pitchFamily="34" charset="0"/>
                <a:cs typeface="Open Sans" panose="020B0606030504020204" pitchFamily="34" charset="0"/>
              </a:rPr>
              <a:t>Interestingly, contrary to our earlier findings when analyzing isolated questions about communication with parents versus friends, the mean of family connections metric, which also includes questions about siblings and children, remains relatively stable across all age groups, with a slight increase among older respondents.</a:t>
            </a:r>
          </a:p>
          <a:p>
            <a:pPr marL="0" indent="0" algn="l" rtl="0" eaLnBrk="1" latinLnBrk="0" hangingPunct="1">
              <a:lnSpc>
                <a:spcPct val="90000"/>
              </a:lnSpc>
              <a:spcBef>
                <a:spcPts val="1000"/>
              </a:spcBef>
              <a:buNone/>
            </a:pPr>
            <a:endParaRPr lang="en-US" sz="1600" dirty="0">
              <a:solidFill>
                <a:srgbClr val="695D46"/>
              </a:solidFill>
              <a:effectLst/>
              <a:latin typeface="Open Sans" panose="020B0606030504020204" pitchFamily="34" charset="0"/>
              <a:ea typeface="Open Sans" panose="020B0606030504020204" pitchFamily="34" charset="0"/>
              <a:cs typeface="Open Sans" panose="020B0606030504020204" pitchFamily="34" charset="0"/>
            </a:endParaRPr>
          </a:p>
          <a:p>
            <a:pPr>
              <a:spcBef>
                <a:spcPts val="1000"/>
              </a:spcBef>
            </a:pPr>
            <a:r>
              <a:rPr lang="en-US" sz="1600" dirty="0">
                <a:solidFill>
                  <a:srgbClr val="695D46"/>
                </a:solidFill>
                <a:effectLst/>
                <a:latin typeface="Open Sans" panose="020B0606030504020204" pitchFamily="34" charset="0"/>
                <a:ea typeface="Open Sans" panose="020B0606030504020204" pitchFamily="34" charset="0"/>
                <a:cs typeface="Open Sans" panose="020B0606030504020204" pitchFamily="34" charset="0"/>
              </a:rPr>
              <a:t>This trend can be intuitively explained by people's growing reliance on family as they age</a:t>
            </a:r>
            <a:r>
              <a:rPr lang="en-US" sz="1600" dirty="0">
                <a:solidFill>
                  <a:srgbClr val="695D46"/>
                </a:solidFill>
                <a:latin typeface="Open Sans" panose="020B0606030504020204" pitchFamily="34" charset="0"/>
                <a:ea typeface="Open Sans" panose="020B0606030504020204" pitchFamily="34" charset="0"/>
                <a:cs typeface="Open Sans" panose="020B0606030504020204" pitchFamily="34" charset="0"/>
              </a:rPr>
              <a:t>. where reduced communication with parents in older groups is offset by more frequent interactions with children and siblings.</a:t>
            </a:r>
          </a:p>
          <a:p>
            <a:pPr>
              <a:spcBef>
                <a:spcPts val="1000"/>
              </a:spcBef>
            </a:pPr>
            <a:endParaRPr lang="en-US" sz="1600" dirty="0">
              <a:solidFill>
                <a:srgbClr val="695D46"/>
              </a:solidFill>
              <a:latin typeface="Open Sans" panose="020B0606030504020204" pitchFamily="34" charset="0"/>
              <a:ea typeface="Open Sans" panose="020B0606030504020204" pitchFamily="34" charset="0"/>
              <a:cs typeface="Open Sans" panose="020B0606030504020204" pitchFamily="34" charset="0"/>
            </a:endParaRPr>
          </a:p>
          <a:p>
            <a:pPr>
              <a:spcBef>
                <a:spcPts val="1000"/>
              </a:spcBef>
            </a:pPr>
            <a:r>
              <a:rPr lang="en-US" sz="1600" dirty="0">
                <a:solidFill>
                  <a:srgbClr val="695D46"/>
                </a:solidFill>
                <a:latin typeface="Open Sans" panose="020B0606030504020204" pitchFamily="34" charset="0"/>
                <a:ea typeface="Open Sans" panose="020B0606030504020204" pitchFamily="34" charset="0"/>
                <a:cs typeface="Open Sans" panose="020B0606030504020204" pitchFamily="34" charset="0"/>
              </a:rPr>
              <a:t>Conversely</a:t>
            </a:r>
            <a:r>
              <a:rPr lang="en-US" sz="1600" dirty="0">
                <a:solidFill>
                  <a:srgbClr val="695D46"/>
                </a:solidFill>
                <a:effectLst/>
                <a:latin typeface="Open Sans" panose="020B0606030504020204" pitchFamily="34" charset="0"/>
                <a:ea typeface="Open Sans" panose="020B0606030504020204" pitchFamily="34" charset="0"/>
                <a:cs typeface="Open Sans" panose="020B0606030504020204" pitchFamily="34" charset="0"/>
              </a:rPr>
              <a:t>, the friends’ connections metric gradually declines with age, suggesting a reduction in social activities and fewer outings.</a:t>
            </a:r>
          </a:p>
          <a:p>
            <a:pPr>
              <a:spcBef>
                <a:spcPts val="1000"/>
              </a:spcBef>
            </a:pPr>
            <a:endParaRPr lang="en-US" sz="1600" dirty="0">
              <a:solidFill>
                <a:srgbClr val="695D46"/>
              </a:solidFill>
              <a:effectLst/>
              <a:latin typeface="Open Sans" panose="020B0606030504020204" pitchFamily="34" charset="0"/>
              <a:ea typeface="Open Sans" panose="020B0606030504020204" pitchFamily="34" charset="0"/>
              <a:cs typeface="Open Sans" panose="020B0606030504020204" pitchFamily="34" charset="0"/>
            </a:endParaRPr>
          </a:p>
          <a:p>
            <a:pPr marL="0" indent="0" algn="l" rtl="0" eaLnBrk="1" latinLnBrk="0" hangingPunct="1">
              <a:lnSpc>
                <a:spcPct val="90000"/>
              </a:lnSpc>
              <a:spcBef>
                <a:spcPts val="1000"/>
              </a:spcBef>
              <a:buNone/>
            </a:pPr>
            <a:r>
              <a:rPr lang="en-US" sz="1600" dirty="0">
                <a:solidFill>
                  <a:srgbClr val="695D46"/>
                </a:solidFill>
                <a:effectLst/>
                <a:latin typeface="Open Sans" panose="020B0606030504020204" pitchFamily="34" charset="0"/>
                <a:ea typeface="Open Sans" panose="020B0606030504020204" pitchFamily="34" charset="0"/>
                <a:cs typeface="Open Sans" panose="020B0606030504020204" pitchFamily="34" charset="0"/>
              </a:rPr>
              <a:t>Additionally, a similar pattern is observed in the family ethos and loneliness metrics across different age groups.</a:t>
            </a:r>
            <a:endParaRPr lang="he-IL" sz="1600" dirty="0">
              <a:solidFill>
                <a:srgbClr val="695D46"/>
              </a:solidFill>
              <a:latin typeface="Open Sans" panose="020B0606030504020204" pitchFamily="34" charset="0"/>
              <a:ea typeface="Open Sans" panose="020B0606030504020204" pitchFamily="34" charset="0"/>
            </a:endParaRPr>
          </a:p>
        </p:txBody>
      </p:sp>
    </p:spTree>
    <p:extLst>
      <p:ext uri="{BB962C8B-B14F-4D97-AF65-F5344CB8AC3E}">
        <p14:creationId xmlns:p14="http://schemas.microsoft.com/office/powerpoint/2010/main" val="10765783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6B0F941-5647-745A-FC6D-D13082EB9CF1}"/>
              </a:ext>
            </a:extLst>
          </p:cNvPr>
          <p:cNvSpPr txBox="1"/>
          <p:nvPr/>
        </p:nvSpPr>
        <p:spPr>
          <a:xfrm>
            <a:off x="155880" y="925146"/>
            <a:ext cx="8832240" cy="3046988"/>
          </a:xfrm>
          <a:prstGeom prst="rect">
            <a:avLst/>
          </a:prstGeom>
          <a:noFill/>
        </p:spPr>
        <p:txBody>
          <a:bodyPr wrap="square" rtlCol="1">
            <a:spAutoFit/>
          </a:bodyPr>
          <a:lstStyle/>
          <a:p>
            <a:r>
              <a:rPr lang="en-US" sz="1600" dirty="0">
                <a:solidFill>
                  <a:srgbClr val="695D46"/>
                </a:solidFill>
                <a:latin typeface="Open Sans" panose="020B0606030504020204" pitchFamily="34" charset="0"/>
                <a:ea typeface="Open Sans" panose="020B0606030504020204" pitchFamily="34" charset="0"/>
                <a:cs typeface="Open Sans" panose="020B0606030504020204" pitchFamily="34" charset="0"/>
              </a:rPr>
              <a:t>To conclude, our aim was to test whether communication frequency with family and friends was associated with perceived depression or loneliness. </a:t>
            </a:r>
          </a:p>
          <a:p>
            <a:endParaRPr lang="en-US" sz="1600" dirty="0">
              <a:solidFill>
                <a:srgbClr val="695D46"/>
              </a:solidFill>
              <a:latin typeface="Open Sans" panose="020B0606030504020204" pitchFamily="34" charset="0"/>
              <a:ea typeface="Open Sans" panose="020B0606030504020204" pitchFamily="34" charset="0"/>
              <a:cs typeface="Open Sans" panose="020B0606030504020204" pitchFamily="34" charset="0"/>
            </a:endParaRPr>
          </a:p>
          <a:p>
            <a:r>
              <a:rPr lang="en-US" sz="1600" dirty="0">
                <a:solidFill>
                  <a:srgbClr val="695D46"/>
                </a:solidFill>
                <a:latin typeface="Open Sans" panose="020B0606030504020204" pitchFamily="34" charset="0"/>
                <a:ea typeface="Open Sans" panose="020B0606030504020204" pitchFamily="34" charset="0"/>
                <a:cs typeface="Open Sans" panose="020B0606030504020204" pitchFamily="34" charset="0"/>
              </a:rPr>
              <a:t>We first analyzed individual survey questions by country and age group, then created composite measures by averaging related items. Across all analyses, we found no clear correlation. </a:t>
            </a:r>
          </a:p>
          <a:p>
            <a:endParaRPr lang="en-US" sz="1600" dirty="0">
              <a:solidFill>
                <a:srgbClr val="695D46"/>
              </a:solidFill>
              <a:latin typeface="Open Sans" panose="020B0606030504020204" pitchFamily="34" charset="0"/>
              <a:ea typeface="Open Sans" panose="020B0606030504020204" pitchFamily="34" charset="0"/>
              <a:cs typeface="Open Sans" panose="020B0606030504020204" pitchFamily="34" charset="0"/>
            </a:endParaRPr>
          </a:p>
          <a:p>
            <a:r>
              <a:rPr lang="en-US" sz="1600" dirty="0">
                <a:solidFill>
                  <a:srgbClr val="695D46"/>
                </a:solidFill>
                <a:latin typeface="Open Sans" panose="020B0606030504020204" pitchFamily="34" charset="0"/>
                <a:ea typeface="Open Sans" panose="020B0606030504020204" pitchFamily="34" charset="0"/>
                <a:cs typeface="Open Sans" panose="020B0606030504020204" pitchFamily="34" charset="0"/>
              </a:rPr>
              <a:t>This outcome may be attributed to the subjective and complex nature of loneliness and depression.</a:t>
            </a:r>
          </a:p>
          <a:p>
            <a:r>
              <a:rPr lang="en-US" sz="1600" dirty="0">
                <a:solidFill>
                  <a:srgbClr val="695D46"/>
                </a:solidFill>
                <a:latin typeface="Open Sans" panose="020B0606030504020204" pitchFamily="34" charset="0"/>
                <a:ea typeface="Open Sans" panose="020B0606030504020204" pitchFamily="34" charset="0"/>
                <a:cs typeface="Open Sans" panose="020B0606030504020204" pitchFamily="34" charset="0"/>
              </a:rPr>
              <a:t>Such experiences are complex and influenced by a wide range of factors, including social norms, culture, household environment, education, and more, making it difficult to link them directly to any single external metric.</a:t>
            </a:r>
            <a:endParaRPr lang="he-IL" sz="1600" dirty="0">
              <a:solidFill>
                <a:srgbClr val="695D46"/>
              </a:solidFill>
              <a:latin typeface="Open Sans" panose="020B0606030504020204" pitchFamily="34" charset="0"/>
              <a:ea typeface="Open Sans" panose="020B0606030504020204" pitchFamily="34" charset="0"/>
            </a:endParaRPr>
          </a:p>
        </p:txBody>
      </p:sp>
      <p:sp>
        <p:nvSpPr>
          <p:cNvPr id="5" name="Title 4">
            <a:extLst>
              <a:ext uri="{FF2B5EF4-FFF2-40B4-BE49-F238E27FC236}">
                <a16:creationId xmlns:a16="http://schemas.microsoft.com/office/drawing/2014/main" id="{9F63BA99-7501-2AB2-8AD1-C492443A5E3E}"/>
              </a:ext>
            </a:extLst>
          </p:cNvPr>
          <p:cNvSpPr>
            <a:spLocks noGrp="1"/>
          </p:cNvSpPr>
          <p:nvPr>
            <p:ph type="title"/>
          </p:nvPr>
        </p:nvSpPr>
        <p:spPr>
          <a:xfrm>
            <a:off x="88964" y="218826"/>
            <a:ext cx="8519400" cy="706320"/>
          </a:xfrm>
        </p:spPr>
        <p:txBody>
          <a:bodyPr>
            <a:normAutofit fontScale="90000"/>
          </a:bodyPr>
          <a:lstStyle/>
          <a:p>
            <a:r>
              <a:rPr lang="en-US" b="1" dirty="0">
                <a:solidFill>
                  <a:schemeClr val="accent1"/>
                </a:solidFill>
                <a:latin typeface="PT Sans Narrow"/>
              </a:rPr>
              <a:t>Final conclusions</a:t>
            </a:r>
            <a:endParaRPr lang="he-IL" dirty="0"/>
          </a:p>
        </p:txBody>
      </p:sp>
    </p:spTree>
    <p:extLst>
      <p:ext uri="{BB962C8B-B14F-4D97-AF65-F5344CB8AC3E}">
        <p14:creationId xmlns:p14="http://schemas.microsoft.com/office/powerpoint/2010/main" val="381734735"/>
      </p:ext>
    </p:extLst>
  </p:cSld>
  <p:clrMapOvr>
    <a:masterClrMapping/>
  </p:clrMapOvr>
</p:sld>
</file>

<file path=ppt/theme/theme1.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3453</TotalTime>
  <Words>2752</Words>
  <Application>Microsoft Office PowerPoint</Application>
  <PresentationFormat>On-screen Show (16:9)</PresentationFormat>
  <Paragraphs>200</Paragraphs>
  <Slides>29</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29</vt:i4>
      </vt:variant>
    </vt:vector>
  </HeadingPairs>
  <TitlesOfParts>
    <vt:vector size="37" baseType="lpstr">
      <vt:lpstr>Arial</vt:lpstr>
      <vt:lpstr>Wingdings</vt:lpstr>
      <vt:lpstr>PT Sans Narrow</vt:lpstr>
      <vt:lpstr>Open Sans</vt:lpstr>
      <vt:lpstr>Symbol</vt:lpstr>
      <vt:lpstr>Times New Roman</vt:lpstr>
      <vt:lpstr>Tropic</vt:lpstr>
      <vt:lpstr>Tropic</vt:lpstr>
      <vt:lpstr>Social connections and loneliness</vt:lpstr>
      <vt:lpstr>Dataset </vt:lpstr>
      <vt:lpstr>Background</vt:lpstr>
      <vt:lpstr> depressed vs. how much you socialize</vt:lpstr>
      <vt:lpstr>PowerPoint Presentation</vt:lpstr>
      <vt:lpstr>PowerPoint Presentation</vt:lpstr>
      <vt:lpstr>PowerPoint Presentation</vt:lpstr>
      <vt:lpstr>PowerPoint Presentation</vt:lpstr>
      <vt:lpstr>PowerPoint Presentation</vt:lpstr>
      <vt:lpstr>PowerPoint Presentation</vt:lpstr>
      <vt:lpstr>depression vs. sociability (by country)</vt:lpstr>
      <vt:lpstr>PowerPoint Presentation</vt:lpstr>
      <vt:lpstr>PowerPoint Presentation</vt:lpstr>
      <vt:lpstr> Third topic - depressed correlation by 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metrics we created</vt:lpstr>
      <vt:lpstr> initial tests with new metrics</vt:lpstr>
      <vt:lpstr>PowerPoint Presentation</vt:lpstr>
      <vt:lpstr> Further tests</vt:lpstr>
      <vt:lpstr>Further conclusions</vt:lpstr>
      <vt:lpstr>Final conclusions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dc:description/>
  <cp:lastModifiedBy>נגה איכנבוים</cp:lastModifiedBy>
  <cp:revision>53</cp:revision>
  <dcterms:modified xsi:type="dcterms:W3CDTF">2026-01-23T22:06:52Z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13</vt:i4>
  </property>
  <property fmtid="{D5CDD505-2E9C-101B-9397-08002B2CF9AE}" pid="3" name="PresentationFormat">
    <vt:lpwstr>‫הצגה על המסך (16:9)</vt:lpwstr>
  </property>
  <property fmtid="{D5CDD505-2E9C-101B-9397-08002B2CF9AE}" pid="4" name="Slides">
    <vt:i4>13</vt:i4>
  </property>
</Properties>
</file>